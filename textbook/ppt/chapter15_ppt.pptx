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8B0000"/>
                </a:solidFill>
              </a:rPr>
              <a:t>第15章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8B0000"/>
                </a:solidFill>
              </a:rPr>
              <a:t>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400">
                <a:solidFill>
                  <a:srgbClr val="000000"/>
                </a:solidFill>
              </a:rPr>
              <a:t>DP = 递归 + 记忆化 = 递推填表</a:t>
            </a:r>
          </a:p>
          <a:p>
            <a:r>
              <a:rPr sz="1400">
                <a:solidFill>
                  <a:srgbClr val="000000"/>
                </a:solidFill>
              </a:rPr>
              <a:t>01背包：每件选或不选，逆序遍历容量</a:t>
            </a:r>
          </a:p>
          <a:p>
            <a:r>
              <a:rPr sz="1400">
                <a:solidFill>
                  <a:srgbClr val="000000"/>
                </a:solidFill>
              </a:rPr>
              <a:t>完全背包：每件无限选，正序遍历容量</a:t>
            </a:r>
          </a:p>
          <a:p>
            <a:r>
              <a:rPr sz="1400">
                <a:solidFill>
                  <a:srgbClr val="000000"/>
                </a:solidFill>
              </a:rPr>
              <a:t>状态压缩DP：用二进制掩码表示状态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8B0000"/>
                </a:solidFill>
              </a:rPr>
              <a:t>C++ 代码示例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200">
                <a:solidFill>
                  <a:srgbClr val="000000"/>
                </a:solidFill>
              </a:rPr>
              <a:t>// 01背包
int dp[1001];
for (int i = 0; i &lt; n; i++)
    for (int j = V; j &gt;= v[i]; j--)
        dp[j] = max(dp[j], dp[j-v[i]] + w[i]);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8B0000"/>
                </a:solidFill>
              </a:rPr>
              <a:t>Python 代码示例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200">
                <a:solidFill>
                  <a:srgbClr val="000000"/>
                </a:solidFill>
              </a:rPr>
              <a:t># 01背包
dp = [0] * (V+1)
for i in range(n):
    for j in range(V, v[i]-1, -1):
        dp[j] = max(dp[j], dp[j-v[i]] + w[i])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8B0000"/>
                </a:solidFill>
              </a:rPr>
              <a:t>常见错误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400">
                <a:solidFill>
                  <a:srgbClr val="000000"/>
                </a:solidFill>
              </a:rPr>
              <a:t>01背包必须逆序遍历容量（否则变成完全背包）</a:t>
            </a:r>
          </a:p>
          <a:p>
            <a:r>
              <a:rPr sz="1400">
                <a:solidFill>
                  <a:srgbClr val="000000"/>
                </a:solidFill>
              </a:rPr>
              <a:t>完全背包必须正序遍历容量（允许重复选）</a:t>
            </a:r>
          </a:p>
          <a:p>
            <a:r>
              <a:rPr sz="1400">
                <a:solidFill>
                  <a:srgbClr val="000000"/>
                </a:solidFill>
              </a:rPr>
              <a:t>状态定义不清晰导致转移方程错误</a:t>
            </a:r>
          </a:p>
          <a:p>
            <a:r>
              <a:rPr sz="1400">
                <a:solidFill>
                  <a:srgbClr val="000000"/>
                </a:solidFill>
              </a:rPr>
              <a:t>边界条件：dp[0]=0 初始化对不对？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8B0000"/>
                </a:solidFill>
              </a:rPr>
              <a:t>练习题目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400">
                <a:solidFill>
                  <a:srgbClr val="000000"/>
                </a:solidFill>
              </a:rPr>
              <a:t>JD155 一剑一鞘 - 01背包 (Medium)</a:t>
            </a:r>
          </a:p>
          <a:p>
            <a:r>
              <a:rPr sz="1400">
                <a:solidFill>
                  <a:srgbClr val="000000"/>
                </a:solidFill>
              </a:rPr>
              <a:t>JD163 背包叠甲 - 多重背包 (Hard)</a:t>
            </a:r>
          </a:p>
          <a:p>
            <a:r>
              <a:rPr sz="1400">
                <a:solidFill>
                  <a:srgbClr val="000000"/>
                </a:solidFill>
              </a:rPr>
              <a:t>JD172 千机棋局 - 树形DP (Hard)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8B0000"/>
                </a:solidFill>
              </a:rPr>
              <a:t>本章小结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400">
                <a:solidFill>
                  <a:srgbClr val="000000"/>
                </a:solidFill>
              </a:rPr>
              <a:t>本章学习了第15章的核心概念</a:t>
            </a:r>
          </a:p>
          <a:p>
            <a:r>
              <a:rPr sz="1400">
                <a:solidFill>
                  <a:srgbClr val="000000"/>
                </a:solidFill>
              </a:rPr>
              <a:t>多做练习是掌握算法的关键</a:t>
            </a:r>
          </a:p>
          <a:p>
            <a:r>
              <a:rPr sz="1400">
                <a:solidFill>
                  <a:srgbClr val="000000"/>
                </a:solidFill>
              </a:rPr>
              <a:t>理解算法思想比死记代码更重要</a:t>
            </a:r>
          </a:p>
          <a:p>
            <a:r>
              <a:rPr sz="1400">
                <a:solidFill>
                  <a:srgbClr val="000000"/>
                </a:solidFill>
              </a:rPr>
              <a:t>遇到问题先画图、再想算法、最后写代码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