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8B0000"/>
                </a:solidFill>
              </a:rPr>
              <a:t>第4章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8B0000"/>
                </a:solidFill>
              </a:rPr>
              <a:t>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400">
                <a:solidFill>
                  <a:srgbClr val="000000"/>
                </a:solidFill>
              </a:rPr>
              <a:t>数组 = 一排连续编号的盒子</a:t>
            </a:r>
          </a:p>
          <a:p>
            <a:r>
              <a:rPr sz="1400">
                <a:solidFill>
                  <a:srgbClr val="000000"/>
                </a:solidFill>
              </a:rPr>
              <a:t>下标从 0 开始：a[0] 是第一个元素</a:t>
            </a:r>
          </a:p>
          <a:p>
            <a:r>
              <a:rPr sz="1400">
                <a:solidFill>
                  <a:srgbClr val="000000"/>
                </a:solidFill>
              </a:rPr>
              <a:t>遍历：用 for 循环访问每个元素</a:t>
            </a:r>
          </a:p>
          <a:p>
            <a:r>
              <a:rPr sz="1400">
                <a:solidFill>
                  <a:srgbClr val="000000"/>
                </a:solidFill>
              </a:rPr>
              <a:t>常见操作：求和、找最值、排序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8B0000"/>
                </a:solidFill>
              </a:rPr>
              <a:t>C++ 代码示例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200">
                <a:solidFill>
                  <a:srgbClr val="000000"/>
                </a:solidFill>
              </a:rPr>
              <a:t>int a[100];
for (int i = 0; i &lt; n; i++) cin &gt;&gt; a[i];
// 求和
int sum = 0;
for (int i = 0; i &lt; n; i++) sum += a[i];
// 排序
sort(a, a + n);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8B0000"/>
                </a:solidFill>
              </a:rPr>
              <a:t>Python 代码示例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200">
                <a:solidFill>
                  <a:srgbClr val="000000"/>
                </a:solidFill>
              </a:rPr>
              <a:t>a = list(map(int, input().split()))
# 求和
total = sum(a)
# 排序
a.sort()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8B0000"/>
                </a:solidFill>
              </a:rPr>
              <a:t>常见错误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400">
                <a:solidFill>
                  <a:srgbClr val="000000"/>
                </a:solidFill>
              </a:rPr>
              <a:t>数组越界：a[n] 是未定义行为！</a:t>
            </a:r>
          </a:p>
          <a:p>
            <a:r>
              <a:rPr sz="1400">
                <a:solidFill>
                  <a:srgbClr val="000000"/>
                </a:solidFill>
              </a:rPr>
              <a:t>忘记初始化数组（C++默认随机值）</a:t>
            </a:r>
          </a:p>
          <a:p>
            <a:r>
              <a:rPr sz="1400">
                <a:solidFill>
                  <a:srgbClr val="000000"/>
                </a:solidFill>
              </a:rPr>
              <a:t>Python list 是动态数组，C++ 数组大小固定</a:t>
            </a:r>
          </a:p>
          <a:p>
            <a:r>
              <a:rPr sz="1400">
                <a:solidFill>
                  <a:srgbClr val="000000"/>
                </a:solidFill>
              </a:rPr>
              <a:t>sort() 是原地排序，sorted() 返回新列表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8B0000"/>
                </a:solidFill>
              </a:rPr>
              <a:t>练习题目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400">
                <a:solidFill>
                  <a:srgbClr val="000000"/>
                </a:solidFill>
              </a:rPr>
              <a:t>JD043 正剑除邪 - 数组替换 (Easy)</a:t>
            </a:r>
          </a:p>
          <a:p>
            <a:r>
              <a:rPr sz="1400">
                <a:solidFill>
                  <a:srgbClr val="000000"/>
                </a:solidFill>
              </a:rPr>
              <a:t>JD047 剑锋所指 - 数组遍历 (Easy)</a:t>
            </a:r>
          </a:p>
          <a:p>
            <a:r>
              <a:rPr sz="1400">
                <a:solidFill>
                  <a:srgbClr val="000000"/>
                </a:solidFill>
              </a:rPr>
              <a:t>JD050 列阵求和 - 数组求和 (Medium)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8B0000"/>
                </a:solidFill>
              </a:rPr>
              <a:t>本章小结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400">
                <a:solidFill>
                  <a:srgbClr val="000000"/>
                </a:solidFill>
              </a:rPr>
              <a:t/>
            </a:r>
          </a:p>
          <a:p>
            <a:r>
              <a:rPr sz="1400">
                <a:solidFill>
                  <a:srgbClr val="000000"/>
                </a:solidFill>
              </a:rPr>
              <a:t/>
            </a:r>
          </a:p>
          <a:p>
            <a:r>
              <a:rPr sz="1400">
                <a:solidFill>
                  <a:srgbClr val="000000"/>
                </a:solidFill>
              </a:rPr>
              <a:t/>
            </a:r>
          </a:p>
          <a:p>
            <a:r>
              <a:rPr sz="1400">
                <a:solidFill>
                  <a:srgbClr val="000000"/>
                </a:solidFill>
              </a:rP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8B0000"/>
                </a:solidFill>
              </a:rPr>
              <a:t>本章概览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600">
                <a:solidFill>
                  <a:srgbClr val="000000"/>
                </a:solidFill>
              </a:rPr>
              <a:t>本章学习数组——存储和管理一组有序数据。这是数据结构的入门。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8B0000"/>
                </a:solidFill>
              </a:rPr>
              <a:t>第4章 核心要点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600">
                <a:solidFill>
                  <a:srgbClr val="000000"/>
                </a:solidFill>
              </a:rPr>
              <a:t>• 数组的声明、初始化和遍历</a:t>
            </a:r>
          </a:p>
          <a:p>
            <a:r>
              <a:rPr sz="1600">
                <a:solidFill>
                  <a:srgbClr val="000000"/>
                </a:solidFill>
              </a:rPr>
              <a:t>• 下标从0开始的重要性</a:t>
            </a:r>
          </a:p>
          <a:p>
            <a:r>
              <a:rPr sz="1600">
                <a:solidFill>
                  <a:srgbClr val="000000"/>
                </a:solidFill>
              </a:rPr>
              <a:t>• 数组越界是未定义行为</a:t>
            </a:r>
          </a:p>
          <a:p>
            <a:r>
              <a:rPr sz="1600">
                <a:solidFill>
                  <a:srgbClr val="000000"/>
                </a:solidFill>
              </a:rPr>
              <a:t>• 排序函数 sort() 的使用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