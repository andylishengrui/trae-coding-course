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0000"/>
                </a:solidFill>
              </a:rPr>
              <a:t>第13章 迷雾寻踪</a:t>
            </a:r>
          </a:p>
          <a:p>
            <a:pPr algn="ctr"/>
            <a:r>
              <a:rPr sz="2400">
                <a:solidFill>
                  <a:srgbClr val="6B5D4D"/>
                </a:solidFill>
              </a:rPr>
              <a:t>搜索与回溯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/>
              <a:t>• DFS深度优先的基本概念与应用</a:t>
            </a:r>
          </a:p>
          <a:p>
            <a:r>
              <a:rPr sz="1800"/>
              <a:t>• BFS广度优先的基本概念与应用</a:t>
            </a:r>
          </a:p>
          <a:p>
            <a:r>
              <a:rPr sz="1800"/>
              <a:t>• 回溯框架的基本概念与应用</a:t>
            </a:r>
          </a:p>
          <a:p>
            <a:r>
              <a:rPr sz="1800"/>
              <a:t>• 剪枝优化的基本概念与应用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本章概览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DFS：深度优先，用栈/递归实现</a:t>
            </a:r>
          </a:p>
          <a:p>
            <a:r>
              <a:rPr sz="1600">
                <a:solidFill>
                  <a:srgbClr val="000000"/>
                </a:solidFill>
              </a:rPr>
              <a:t>BFS：广度优先，用队列实现</a:t>
            </a:r>
          </a:p>
          <a:p>
            <a:r>
              <a:rPr sz="1600">
                <a:solidFill>
                  <a:srgbClr val="000000"/>
                </a:solidFill>
              </a:rPr>
              <a:t>回溯：选→递归→撤销</a:t>
            </a:r>
          </a:p>
          <a:p>
            <a:r>
              <a:rPr sz="1600">
                <a:solidFill>
                  <a:srgbClr val="000000"/>
                </a:solidFill>
              </a:rPr>
              <a:t>剪枝：提前终止无效分支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C++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void dfs(int u) {
    if (u == n) { output(); return; }
    for (int i = 1; i &lt;= n; i++) {
        if (!used[i]) {
            used[i] = true;
            path[u] = i;
            dfs(u + 1);
            used[i] = false;
        }
    }
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Python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def dfs(u):
    if u == n:
        output(); return
    for i in range(1, n+1):
        if not used[i]:
            used[i] = True
            path[u] = i
            dfs(u + 1)
            used[i] =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DFS忘记回溯</a:t>
            </a:r>
          </a:p>
          <a:p>
            <a:r>
              <a:rPr sz="1600">
                <a:solidFill>
                  <a:srgbClr val="000000"/>
                </a:solidFill>
              </a:rPr>
              <a:t>BFS忘记标记已访问</a:t>
            </a:r>
          </a:p>
          <a:p>
            <a:r>
              <a:rPr sz="1600">
                <a:solidFill>
                  <a:srgbClr val="000000"/>
                </a:solidFill>
              </a:rPr>
              <a:t>状态空间太大需要剪枝</a:t>
            </a:r>
          </a:p>
          <a:p>
            <a:r>
              <a:rPr sz="1600">
                <a:solidFill>
                  <a:srgbClr val="000000"/>
                </a:solidFill>
              </a:rPr>
              <a:t>Python递归深度限制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练习题目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JD141 雾中排阵</a:t>
            </a:r>
          </a:p>
          <a:p>
            <a:r>
              <a:rPr sz="1600">
                <a:solidFill>
                  <a:srgbClr val="000000"/>
                </a:solidFill>
              </a:rPr>
              <a:t>JD142 棋盘布后</a:t>
            </a:r>
          </a:p>
          <a:p>
            <a:r>
              <a:rPr sz="1600">
                <a:solidFill>
                  <a:srgbClr val="000000"/>
                </a:solidFill>
              </a:rPr>
              <a:t>JD143 迷宫寻路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掌握核心概念</a:t>
            </a:r>
          </a:p>
          <a:p>
            <a:r>
              <a:rPr sz="1600">
                <a:solidFill>
                  <a:srgbClr val="000000"/>
                </a:solidFill>
              </a:rPr>
              <a:t>多做练习</a:t>
            </a:r>
          </a:p>
          <a:p>
            <a:r>
              <a:rPr sz="1600">
                <a:solidFill>
                  <a:srgbClr val="000000"/>
                </a:solidFill>
              </a:rPr>
              <a:t>注意边界条件</a:t>
            </a:r>
          </a:p>
          <a:p>
            <a:r>
              <a:rPr sz="1600">
                <a:solidFill>
                  <a:srgbClr val="000000"/>
                </a:solidFill>
              </a:rPr>
              <a:t>理解算法思想而非死记代码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