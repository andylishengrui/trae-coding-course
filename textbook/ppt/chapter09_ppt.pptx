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第9章 快剑如风</a:t>
            </a:r>
          </a:p>
          <a:p>
            <a:pPr algn="ctr"/>
            <a:r>
              <a:rPr sz="2400">
                <a:solidFill>
                  <a:srgbClr val="6B5D4D"/>
                </a:solidFill>
              </a:rPr>
              <a:t>排序与二分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800"/>
              <a:t>• 快速排序的基本概念与应用</a:t>
            </a:r>
          </a:p>
          <a:p>
            <a:r>
              <a:rPr sz="1800"/>
              <a:t>• 归并排序的基本概念与应用</a:t>
            </a:r>
          </a:p>
          <a:p>
            <a:r>
              <a:rPr sz="1800"/>
              <a:t>• 二分查找的基本概念与应用</a:t>
            </a:r>
          </a:p>
          <a:p>
            <a:r>
              <a:rPr sz="1800"/>
              <a:t>• 浮点二分的基本概念与应用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本章概览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快速排序：选基准，分区，递归 O(nlogn)</a:t>
            </a:r>
          </a:p>
          <a:p>
            <a:r>
              <a:rPr sz="1600">
                <a:solidFill>
                  <a:srgbClr val="000000"/>
                </a:solidFill>
              </a:rPr>
              <a:t>归并排序：分而治之，合并有序数组 O(nlogn)</a:t>
            </a:r>
          </a:p>
          <a:p>
            <a:r>
              <a:rPr sz="1600">
                <a:solidFill>
                  <a:srgbClr val="000000"/>
                </a:solidFill>
              </a:rPr>
              <a:t>二分查找：有序数组中找目标 O(logn)</a:t>
            </a:r>
          </a:p>
          <a:p>
            <a:r>
              <a:rPr sz="1600">
                <a:solidFill>
                  <a:srgbClr val="000000"/>
                </a:solidFill>
              </a:rPr>
              <a:t>浮点二分：精度控制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C++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int binary_search(int a[], int n, int x) {
    int l = 0, r = n-1;
    while (l &lt;= r) {
        int mid = (l + r) &gt;&gt; 1;
        if (a[mid] == x) return mid;
        else if (a[mid] &lt; x) l = mid + 1;
        else r = mid - 1;
    }
    return -1;
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Python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import bisect
idx = bisect.bisect_left(a, x)
if idx &lt; len(a) and a[idx] == x:
    return idx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常见错误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mid = (l+r)/2 可能溢出</a:t>
            </a:r>
          </a:p>
          <a:p>
            <a:r>
              <a:rPr sz="1600">
                <a:solidFill>
                  <a:srgbClr val="000000"/>
                </a:solidFill>
              </a:rPr>
              <a:t>二分边界：l&lt;r vs l&lt;=r</a:t>
            </a:r>
          </a:p>
          <a:p>
            <a:r>
              <a:rPr sz="1600">
                <a:solidFill>
                  <a:srgbClr val="000000"/>
                </a:solidFill>
              </a:rPr>
              <a:t>浮点二分精度：while(r-l&gt;1e-8)</a:t>
            </a:r>
          </a:p>
          <a:p>
            <a:r>
              <a:rPr sz="1600">
                <a:solidFill>
                  <a:srgbClr val="000000"/>
                </a:solidFill>
              </a:rPr>
              <a:t>排序稳定性区别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练习题目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JD103 快剑排序</a:t>
            </a:r>
          </a:p>
          <a:p>
            <a:r>
              <a:rPr sz="1600">
                <a:solidFill>
                  <a:srgbClr val="000000"/>
                </a:solidFill>
              </a:rPr>
              <a:t>JD107 石壁听风</a:t>
            </a:r>
          </a:p>
          <a:p>
            <a:r>
              <a:rPr sz="1600">
                <a:solidFill>
                  <a:srgbClr val="000000"/>
                </a:solidFill>
              </a:rPr>
              <a:t>JD108 剑指方根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掌握核心概念</a:t>
            </a:r>
          </a:p>
          <a:p>
            <a:r>
              <a:rPr sz="1600">
                <a:solidFill>
                  <a:srgbClr val="000000"/>
                </a:solidFill>
              </a:rPr>
              <a:t>多做练习</a:t>
            </a:r>
          </a:p>
          <a:p>
            <a:r>
              <a:rPr sz="1600">
                <a:solidFill>
                  <a:srgbClr val="000000"/>
                </a:solidFill>
              </a:rPr>
              <a:t>注意边界条件</a:t>
            </a:r>
          </a:p>
          <a:p>
            <a:r>
              <a:rPr sz="1600">
                <a:solidFill>
                  <a:srgbClr val="000000"/>
                </a:solidFill>
              </a:rPr>
              <a:t>理解算法思想而非死记代码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