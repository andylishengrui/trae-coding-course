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0" r:id="rId2"/>
  </p:sldMasterIdLst>
  <p:notesMasterIdLst>
    <p:notesMasterId r:id="rId52"/>
  </p:notesMasterIdLst>
  <p:handoutMasterIdLst>
    <p:handoutMasterId r:id="rId53"/>
  </p:handoutMasterIdLst>
  <p:sldIdLst>
    <p:sldId id="256" r:id="rId3"/>
    <p:sldId id="861" r:id="rId4"/>
    <p:sldId id="862" r:id="rId5"/>
    <p:sldId id="863" r:id="rId6"/>
    <p:sldId id="895" r:id="rId7"/>
    <p:sldId id="864" r:id="rId8"/>
    <p:sldId id="865" r:id="rId9"/>
    <p:sldId id="920" r:id="rId10"/>
    <p:sldId id="896" r:id="rId11"/>
    <p:sldId id="923" r:id="rId12"/>
    <p:sldId id="916" r:id="rId13"/>
    <p:sldId id="918" r:id="rId14"/>
    <p:sldId id="917" r:id="rId15"/>
    <p:sldId id="866" r:id="rId16"/>
    <p:sldId id="867" r:id="rId17"/>
    <p:sldId id="868" r:id="rId18"/>
    <p:sldId id="869" r:id="rId19"/>
    <p:sldId id="897" r:id="rId20"/>
    <p:sldId id="870" r:id="rId21"/>
    <p:sldId id="871" r:id="rId22"/>
    <p:sldId id="872" r:id="rId23"/>
    <p:sldId id="874" r:id="rId24"/>
    <p:sldId id="873" r:id="rId25"/>
    <p:sldId id="875" r:id="rId26"/>
    <p:sldId id="898" r:id="rId27"/>
    <p:sldId id="899" r:id="rId28"/>
    <p:sldId id="900" r:id="rId29"/>
    <p:sldId id="901" r:id="rId30"/>
    <p:sldId id="902" r:id="rId31"/>
    <p:sldId id="919" r:id="rId32"/>
    <p:sldId id="903" r:id="rId33"/>
    <p:sldId id="904" r:id="rId34"/>
    <p:sldId id="905" r:id="rId35"/>
    <p:sldId id="907" r:id="rId36"/>
    <p:sldId id="906" r:id="rId37"/>
    <p:sldId id="908" r:id="rId38"/>
    <p:sldId id="912" r:id="rId39"/>
    <p:sldId id="909" r:id="rId40"/>
    <p:sldId id="921" r:id="rId41"/>
    <p:sldId id="910" r:id="rId42"/>
    <p:sldId id="911" r:id="rId43"/>
    <p:sldId id="885" r:id="rId44"/>
    <p:sldId id="886" r:id="rId45"/>
    <p:sldId id="887" r:id="rId46"/>
    <p:sldId id="888" r:id="rId47"/>
    <p:sldId id="894" r:id="rId48"/>
    <p:sldId id="913" r:id="rId49"/>
    <p:sldId id="914" r:id="rId50"/>
    <p:sldId id="915" r:id="rId51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2822"/>
    <a:srgbClr val="000000"/>
    <a:srgbClr val="FFCA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224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86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798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87E9D6-2A90-4BCA-9917-059667D4BDB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/>
        </a:p>
      </dgm:t>
    </dgm:pt>
    <dgm:pt modelId="{5FDCA5B5-BA22-4C26-A7F1-CC4F592DC0E6}">
      <dgm:prSet phldrT="[文本]"/>
      <dgm:spPr>
        <a:solidFill>
          <a:srgbClr val="7030A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求波兰</a:t>
          </a:r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/>
          </a:r>
          <a:b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</a:b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表达式的值</a:t>
          </a:r>
          <a:endParaRPr lang="en-US" alt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5727272E-2B1B-4F3B-8383-21579158865F}" type="parTrans" cxnId="{DE5D3826-05EA-467F-B83E-23AD50F773FB}">
      <dgm:prSet/>
      <dgm:spPr/>
      <dgm:t>
        <a:bodyPr/>
        <a:lstStyle/>
        <a:p>
          <a:endParaRPr lang="zh-CN" altLang="en-US"/>
        </a:p>
      </dgm:t>
    </dgm:pt>
    <dgm:pt modelId="{10265EBF-0996-4689-9D14-CA4F64B207B4}" type="sibTrans" cxnId="{DE5D3826-05EA-467F-B83E-23AD50F773FB}">
      <dgm:prSet/>
      <dgm:spPr/>
      <dgm:t>
        <a:bodyPr/>
        <a:lstStyle/>
        <a:p>
          <a:endParaRPr lang="zh-CN" altLang="en-US"/>
        </a:p>
      </dgm:t>
    </dgm:pt>
    <dgm:pt modelId="{D0DCB29A-8EE3-4D34-9011-43A66D3B0405}">
      <dgm:prSet phldrT="[文本]"/>
      <dgm:spPr>
        <a:solidFill>
          <a:schemeClr val="accent4"/>
        </a:solidFill>
      </dgm:spPr>
      <dgm:t>
        <a:bodyPr/>
        <a:lstStyle/>
        <a:p>
          <a:r>
            <a:rPr lang="en-US" altLang="zh-CN" b="0" i="0" dirty="0"/>
            <a:t>2</a:t>
          </a:r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的幂次方表示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CCF88515-D357-4247-AA0A-481A20018D7C}" type="parTrans" cxnId="{0D8AFDC1-00A3-4653-BB80-DA0081899648}">
      <dgm:prSet/>
      <dgm:spPr/>
      <dgm:t>
        <a:bodyPr/>
        <a:lstStyle/>
        <a:p>
          <a:endParaRPr lang="zh-CN" altLang="en-US"/>
        </a:p>
      </dgm:t>
    </dgm:pt>
    <dgm:pt modelId="{4CD3D10D-CA68-4BDD-B1BD-5FFA350166DB}" type="sibTrans" cxnId="{0D8AFDC1-00A3-4653-BB80-DA0081899648}">
      <dgm:prSet/>
      <dgm:spPr/>
      <dgm:t>
        <a:bodyPr/>
        <a:lstStyle/>
        <a:p>
          <a:endParaRPr lang="zh-CN" altLang="en-US"/>
        </a:p>
      </dgm:t>
    </dgm:pt>
    <dgm:pt modelId="{3416DDA2-CACA-4C1F-8C7E-94ED555A064E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爬天梯</a:t>
          </a:r>
          <a:endParaRPr lang="en-US" alt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22AB6FA9-12DB-4479-8A7D-0F108B965716}" type="parTrans" cxnId="{CD170849-CCA6-4E2C-B5A2-7ECA0C23C310}">
      <dgm:prSet/>
      <dgm:spPr/>
      <dgm:t>
        <a:bodyPr/>
        <a:lstStyle/>
        <a:p>
          <a:endParaRPr lang="zh-CN" altLang="en-US"/>
        </a:p>
      </dgm:t>
    </dgm:pt>
    <dgm:pt modelId="{160F34C0-F869-448E-A1EB-0C50DEF3A87E}" type="sibTrans" cxnId="{CD170849-CCA6-4E2C-B5A2-7ECA0C23C310}">
      <dgm:prSet/>
      <dgm:spPr/>
      <dgm:t>
        <a:bodyPr/>
        <a:lstStyle/>
        <a:p>
          <a:endParaRPr lang="zh-CN" altLang="en-US"/>
        </a:p>
      </dgm:t>
    </dgm:pt>
    <dgm:pt modelId="{E246FEBF-A7B2-42FD-95C0-09D3343C0A15}">
      <dgm:prSet phldrT="[文本]"/>
      <dgm:spPr>
        <a:solidFill>
          <a:srgbClr val="00B05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放苹果</a:t>
          </a:r>
          <a:endParaRPr lang="en-US" alt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C4AEC421-F1DC-438C-B54D-E05B46141C4D}" type="parTrans" cxnId="{289F8572-F010-44B1-8C52-A9CC438BE6A4}">
      <dgm:prSet/>
      <dgm:spPr/>
      <dgm:t>
        <a:bodyPr/>
        <a:lstStyle/>
        <a:p>
          <a:endParaRPr lang="zh-CN" altLang="en-US"/>
        </a:p>
      </dgm:t>
    </dgm:pt>
    <dgm:pt modelId="{1B0D2AAB-79F6-48B0-9B9B-A50FE450FD0B}" type="sibTrans" cxnId="{289F8572-F010-44B1-8C52-A9CC438BE6A4}">
      <dgm:prSet/>
      <dgm:spPr/>
      <dgm:t>
        <a:bodyPr/>
        <a:lstStyle/>
        <a:p>
          <a:endParaRPr lang="zh-CN" altLang="en-US"/>
        </a:p>
      </dgm:t>
    </dgm:pt>
    <dgm:pt modelId="{E890485A-DFFC-4776-AC0E-AD4A4627922D}">
      <dgm:prSet phldrT="[文本]"/>
      <dgm:spPr>
        <a:solidFill>
          <a:srgbClr val="0070C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算</a:t>
          </a:r>
          <a:r>
            <a: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24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C1EEC775-3511-4EFD-A438-C63C4A0DD02E}" type="parTrans" cxnId="{B7AFC7E4-4B40-40AD-ADAA-26803AEB9A4A}">
      <dgm:prSet/>
      <dgm:spPr/>
      <dgm:t>
        <a:bodyPr/>
        <a:lstStyle/>
        <a:p>
          <a:endParaRPr lang="zh-CN" altLang="en-US"/>
        </a:p>
      </dgm:t>
    </dgm:pt>
    <dgm:pt modelId="{AE613432-CCE2-45BC-B344-502B139874C6}" type="sibTrans" cxnId="{B7AFC7E4-4B40-40AD-ADAA-26803AEB9A4A}">
      <dgm:prSet/>
      <dgm:spPr/>
      <dgm:t>
        <a:bodyPr/>
        <a:lstStyle/>
        <a:p>
          <a:endParaRPr lang="zh-CN" altLang="en-US"/>
        </a:p>
      </dgm:t>
    </dgm:pt>
    <dgm:pt modelId="{3D8D5F84-4EF4-4D57-A5CD-540E1D4AA2F8}">
      <dgm:prSet phldrT="[文本]"/>
      <dgm:spPr>
        <a:solidFill>
          <a:srgbClr val="FF0000"/>
        </a:solidFill>
      </dgm:spPr>
      <dgm:t>
        <a:bodyPr/>
        <a:lstStyle/>
        <a:p>
          <a:r>
            <a: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快速幂</a:t>
          </a:r>
          <a:endParaRPr lang="zh-CN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gm:t>
    </dgm:pt>
    <dgm:pt modelId="{D55BB7B4-3FE0-4C3F-8F3D-596B8C3231A2}" type="parTrans" cxnId="{01892296-10BA-4583-9F3E-B6B9D29674AF}">
      <dgm:prSet/>
      <dgm:spPr/>
      <dgm:t>
        <a:bodyPr/>
        <a:lstStyle/>
        <a:p>
          <a:endParaRPr lang="zh-CN" altLang="en-US"/>
        </a:p>
      </dgm:t>
    </dgm:pt>
    <dgm:pt modelId="{B5C77AE4-385D-4CF7-B430-3457416E01DF}" type="sibTrans" cxnId="{01892296-10BA-4583-9F3E-B6B9D29674AF}">
      <dgm:prSet/>
      <dgm:spPr/>
      <dgm:t>
        <a:bodyPr/>
        <a:lstStyle/>
        <a:p>
          <a:endParaRPr lang="zh-CN" altLang="en-US"/>
        </a:p>
      </dgm:t>
    </dgm:pt>
    <dgm:pt modelId="{D822D75A-238A-426D-A9D3-A664472FE3B0}" type="pres">
      <dgm:prSet presAssocID="{6787E9D6-2A90-4BCA-9917-059667D4BDB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EFAE21B-9A31-4EBF-A02B-7EE77130E638}" type="pres">
      <dgm:prSet presAssocID="{3416DDA2-CACA-4C1F-8C7E-94ED555A064E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7CC66AF-6C22-431A-A01B-A328E7C2F220}" type="pres">
      <dgm:prSet presAssocID="{160F34C0-F869-448E-A1EB-0C50DEF3A87E}" presName="sibTrans" presStyleCnt="0"/>
      <dgm:spPr/>
    </dgm:pt>
    <dgm:pt modelId="{31EBE07E-FE5B-46D7-BDD0-0363F967A8C8}" type="pres">
      <dgm:prSet presAssocID="{E246FEBF-A7B2-42FD-95C0-09D3343C0A15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837A62B-FAAC-4923-A6E0-29515572E450}" type="pres">
      <dgm:prSet presAssocID="{1B0D2AAB-79F6-48B0-9B9B-A50FE450FD0B}" presName="sibTrans" presStyleCnt="0"/>
      <dgm:spPr/>
    </dgm:pt>
    <dgm:pt modelId="{6F2251EB-6E69-4936-8D62-9F914F91B923}" type="pres">
      <dgm:prSet presAssocID="{5FDCA5B5-BA22-4C26-A7F1-CC4F592DC0E6}" presName="node" presStyleLbl="node1" presStyleIdx="2" presStyleCnt="6" custLinFactNeighborX="12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4914A1C-5D8F-4836-8E22-78E9BE00328E}" type="pres">
      <dgm:prSet presAssocID="{10265EBF-0996-4689-9D14-CA4F64B207B4}" presName="sibTrans" presStyleCnt="0"/>
      <dgm:spPr/>
    </dgm:pt>
    <dgm:pt modelId="{B768E38C-39A5-4162-8880-005585CD08BD}" type="pres">
      <dgm:prSet presAssocID="{D0DCB29A-8EE3-4D34-9011-43A66D3B0405}" presName="node" presStyleLbl="node1" presStyleIdx="3" presStyleCnt="6" custLinFactNeighborX="-35" custLinFactNeighborY="-200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CBA7BAF-319B-40A9-91E0-94A1E7C94820}" type="pres">
      <dgm:prSet presAssocID="{4CD3D10D-CA68-4BDD-B1BD-5FFA350166DB}" presName="sibTrans" presStyleCnt="0"/>
      <dgm:spPr/>
    </dgm:pt>
    <dgm:pt modelId="{C84749FE-D2FD-4E40-AA71-8D37357933AB}" type="pres">
      <dgm:prSet presAssocID="{3D8D5F84-4EF4-4D57-A5CD-540E1D4AA2F8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D1FBD49-ED96-41B3-8B94-37CE0FF7697B}" type="pres">
      <dgm:prSet presAssocID="{B5C77AE4-385D-4CF7-B430-3457416E01DF}" presName="sibTrans" presStyleCnt="0"/>
      <dgm:spPr/>
    </dgm:pt>
    <dgm:pt modelId="{62219937-6A97-4BE0-B983-2545B3A2B483}" type="pres">
      <dgm:prSet presAssocID="{E890485A-DFFC-4776-AC0E-AD4A4627922D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D8AFDC1-00A3-4653-BB80-DA0081899648}" srcId="{6787E9D6-2A90-4BCA-9917-059667D4BDBC}" destId="{D0DCB29A-8EE3-4D34-9011-43A66D3B0405}" srcOrd="3" destOrd="0" parTransId="{CCF88515-D357-4247-AA0A-481A20018D7C}" sibTransId="{4CD3D10D-CA68-4BDD-B1BD-5FFA350166DB}"/>
    <dgm:cxn modelId="{0BD7491E-2AB6-47D5-8D8B-C38AE295EF62}" type="presOf" srcId="{D0DCB29A-8EE3-4D34-9011-43A66D3B0405}" destId="{B768E38C-39A5-4162-8880-005585CD08BD}" srcOrd="0" destOrd="0" presId="urn:microsoft.com/office/officeart/2005/8/layout/default"/>
    <dgm:cxn modelId="{B7AFC7E4-4B40-40AD-ADAA-26803AEB9A4A}" srcId="{6787E9D6-2A90-4BCA-9917-059667D4BDBC}" destId="{E890485A-DFFC-4776-AC0E-AD4A4627922D}" srcOrd="5" destOrd="0" parTransId="{C1EEC775-3511-4EFD-A438-C63C4A0DD02E}" sibTransId="{AE613432-CCE2-45BC-B344-502B139874C6}"/>
    <dgm:cxn modelId="{CD170849-CCA6-4E2C-B5A2-7ECA0C23C310}" srcId="{6787E9D6-2A90-4BCA-9917-059667D4BDBC}" destId="{3416DDA2-CACA-4C1F-8C7E-94ED555A064E}" srcOrd="0" destOrd="0" parTransId="{22AB6FA9-12DB-4479-8A7D-0F108B965716}" sibTransId="{160F34C0-F869-448E-A1EB-0C50DEF3A87E}"/>
    <dgm:cxn modelId="{01892296-10BA-4583-9F3E-B6B9D29674AF}" srcId="{6787E9D6-2A90-4BCA-9917-059667D4BDBC}" destId="{3D8D5F84-4EF4-4D57-A5CD-540E1D4AA2F8}" srcOrd="4" destOrd="0" parTransId="{D55BB7B4-3FE0-4C3F-8F3D-596B8C3231A2}" sibTransId="{B5C77AE4-385D-4CF7-B430-3457416E01DF}"/>
    <dgm:cxn modelId="{D2D2D14F-641E-4EAB-9B18-8A8F23CAD512}" type="presOf" srcId="{5FDCA5B5-BA22-4C26-A7F1-CC4F592DC0E6}" destId="{6F2251EB-6E69-4936-8D62-9F914F91B923}" srcOrd="0" destOrd="0" presId="urn:microsoft.com/office/officeart/2005/8/layout/default"/>
    <dgm:cxn modelId="{339888B9-7788-4CEE-A7F5-075A0E891563}" type="presOf" srcId="{3D8D5F84-4EF4-4D57-A5CD-540E1D4AA2F8}" destId="{C84749FE-D2FD-4E40-AA71-8D37357933AB}" srcOrd="0" destOrd="0" presId="urn:microsoft.com/office/officeart/2005/8/layout/default"/>
    <dgm:cxn modelId="{DE5D3826-05EA-467F-B83E-23AD50F773FB}" srcId="{6787E9D6-2A90-4BCA-9917-059667D4BDBC}" destId="{5FDCA5B5-BA22-4C26-A7F1-CC4F592DC0E6}" srcOrd="2" destOrd="0" parTransId="{5727272E-2B1B-4F3B-8383-21579158865F}" sibTransId="{10265EBF-0996-4689-9D14-CA4F64B207B4}"/>
    <dgm:cxn modelId="{5DD51DEC-5D0C-48A8-B386-722692CBC8D7}" type="presOf" srcId="{6787E9D6-2A90-4BCA-9917-059667D4BDBC}" destId="{D822D75A-238A-426D-A9D3-A664472FE3B0}" srcOrd="0" destOrd="0" presId="urn:microsoft.com/office/officeart/2005/8/layout/default"/>
    <dgm:cxn modelId="{289F8572-F010-44B1-8C52-A9CC438BE6A4}" srcId="{6787E9D6-2A90-4BCA-9917-059667D4BDBC}" destId="{E246FEBF-A7B2-42FD-95C0-09D3343C0A15}" srcOrd="1" destOrd="0" parTransId="{C4AEC421-F1DC-438C-B54D-E05B46141C4D}" sibTransId="{1B0D2AAB-79F6-48B0-9B9B-A50FE450FD0B}"/>
    <dgm:cxn modelId="{F7DF267D-0FCC-4B74-85B9-60C6632DFA97}" type="presOf" srcId="{E890485A-DFFC-4776-AC0E-AD4A4627922D}" destId="{62219937-6A97-4BE0-B983-2545B3A2B483}" srcOrd="0" destOrd="0" presId="urn:microsoft.com/office/officeart/2005/8/layout/default"/>
    <dgm:cxn modelId="{2A8AF02F-8460-4B92-8283-8DFD1A00594E}" type="presOf" srcId="{E246FEBF-A7B2-42FD-95C0-09D3343C0A15}" destId="{31EBE07E-FE5B-46D7-BDD0-0363F967A8C8}" srcOrd="0" destOrd="0" presId="urn:microsoft.com/office/officeart/2005/8/layout/default"/>
    <dgm:cxn modelId="{9B91627C-F39B-439B-804C-F1454C57802E}" type="presOf" srcId="{3416DDA2-CACA-4C1F-8C7E-94ED555A064E}" destId="{5EFAE21B-9A31-4EBF-A02B-7EE77130E638}" srcOrd="0" destOrd="0" presId="urn:microsoft.com/office/officeart/2005/8/layout/default"/>
    <dgm:cxn modelId="{B0BE0B75-EF6D-4C19-A6AE-49A3378AAD01}" type="presParOf" srcId="{D822D75A-238A-426D-A9D3-A664472FE3B0}" destId="{5EFAE21B-9A31-4EBF-A02B-7EE77130E638}" srcOrd="0" destOrd="0" presId="urn:microsoft.com/office/officeart/2005/8/layout/default"/>
    <dgm:cxn modelId="{BBD531A7-1F4F-4D63-8675-C722B564C2BC}" type="presParOf" srcId="{D822D75A-238A-426D-A9D3-A664472FE3B0}" destId="{B7CC66AF-6C22-431A-A01B-A328E7C2F220}" srcOrd="1" destOrd="0" presId="urn:microsoft.com/office/officeart/2005/8/layout/default"/>
    <dgm:cxn modelId="{2C26E8E9-4E37-4B79-8B98-F35C33892132}" type="presParOf" srcId="{D822D75A-238A-426D-A9D3-A664472FE3B0}" destId="{31EBE07E-FE5B-46D7-BDD0-0363F967A8C8}" srcOrd="2" destOrd="0" presId="urn:microsoft.com/office/officeart/2005/8/layout/default"/>
    <dgm:cxn modelId="{AA9BA509-C6B2-4DCB-924F-DCE25B78B596}" type="presParOf" srcId="{D822D75A-238A-426D-A9D3-A664472FE3B0}" destId="{4837A62B-FAAC-4923-A6E0-29515572E450}" srcOrd="3" destOrd="0" presId="urn:microsoft.com/office/officeart/2005/8/layout/default"/>
    <dgm:cxn modelId="{509C956D-D539-49FE-A1D8-0FC29914B543}" type="presParOf" srcId="{D822D75A-238A-426D-A9D3-A664472FE3B0}" destId="{6F2251EB-6E69-4936-8D62-9F914F91B923}" srcOrd="4" destOrd="0" presId="urn:microsoft.com/office/officeart/2005/8/layout/default"/>
    <dgm:cxn modelId="{34B98E93-0A6C-4F80-87F0-68E5C0866178}" type="presParOf" srcId="{D822D75A-238A-426D-A9D3-A664472FE3B0}" destId="{14914A1C-5D8F-4836-8E22-78E9BE00328E}" srcOrd="5" destOrd="0" presId="urn:microsoft.com/office/officeart/2005/8/layout/default"/>
    <dgm:cxn modelId="{CD25A35C-F8D1-4882-8CF1-D9D962C5D76C}" type="presParOf" srcId="{D822D75A-238A-426D-A9D3-A664472FE3B0}" destId="{B768E38C-39A5-4162-8880-005585CD08BD}" srcOrd="6" destOrd="0" presId="urn:microsoft.com/office/officeart/2005/8/layout/default"/>
    <dgm:cxn modelId="{88FEB0B5-4358-4D8A-BDE1-40B8454151A3}" type="presParOf" srcId="{D822D75A-238A-426D-A9D3-A664472FE3B0}" destId="{2CBA7BAF-319B-40A9-91E0-94A1E7C94820}" srcOrd="7" destOrd="0" presId="urn:microsoft.com/office/officeart/2005/8/layout/default"/>
    <dgm:cxn modelId="{C74939AF-7A1D-42AE-9EC1-3610921BB36D}" type="presParOf" srcId="{D822D75A-238A-426D-A9D3-A664472FE3B0}" destId="{C84749FE-D2FD-4E40-AA71-8D37357933AB}" srcOrd="8" destOrd="0" presId="urn:microsoft.com/office/officeart/2005/8/layout/default"/>
    <dgm:cxn modelId="{0E64B1E6-EC89-4839-A340-F13561D2B63C}" type="presParOf" srcId="{D822D75A-238A-426D-A9D3-A664472FE3B0}" destId="{BD1FBD49-ED96-41B3-8B94-37CE0FF7697B}" srcOrd="9" destOrd="0" presId="urn:microsoft.com/office/officeart/2005/8/layout/default"/>
    <dgm:cxn modelId="{999B9716-B041-4251-B96A-7F2BE1D8692A}" type="presParOf" srcId="{D822D75A-238A-426D-A9D3-A664472FE3B0}" destId="{62219937-6A97-4BE0-B983-2545B3A2B483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AE21B-9A31-4EBF-A02B-7EE77130E638}">
      <dsp:nvSpPr>
        <dsp:cNvPr id="0" name=""/>
        <dsp:cNvSpPr/>
      </dsp:nvSpPr>
      <dsp:spPr>
        <a:xfrm>
          <a:off x="0" y="280491"/>
          <a:ext cx="2795984" cy="1677590"/>
        </a:xfrm>
        <a:prstGeom prst="rect">
          <a:avLst/>
        </a:prstGeom>
        <a:solidFill>
          <a:srgbClr val="00B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爬天梯</a:t>
          </a:r>
          <a:endParaRPr lang="en-US" altLang="zh-CN" sz="3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0" y="280491"/>
        <a:ext cx="2795984" cy="1677590"/>
      </dsp:txXfrm>
    </dsp:sp>
    <dsp:sp modelId="{31EBE07E-FE5B-46D7-BDD0-0363F967A8C8}">
      <dsp:nvSpPr>
        <dsp:cNvPr id="0" name=""/>
        <dsp:cNvSpPr/>
      </dsp:nvSpPr>
      <dsp:spPr>
        <a:xfrm>
          <a:off x="3075582" y="280491"/>
          <a:ext cx="2795984" cy="1677590"/>
        </a:xfrm>
        <a:prstGeom prst="rect">
          <a:avLst/>
        </a:prstGeom>
        <a:solidFill>
          <a:srgbClr val="00B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放苹果</a:t>
          </a:r>
          <a:endParaRPr lang="en-US" altLang="zh-CN" sz="3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3075582" y="280491"/>
        <a:ext cx="2795984" cy="1677590"/>
      </dsp:txXfrm>
    </dsp:sp>
    <dsp:sp modelId="{6F2251EB-6E69-4936-8D62-9F914F91B923}">
      <dsp:nvSpPr>
        <dsp:cNvPr id="0" name=""/>
        <dsp:cNvSpPr/>
      </dsp:nvSpPr>
      <dsp:spPr>
        <a:xfrm>
          <a:off x="6151165" y="280491"/>
          <a:ext cx="2795984" cy="1677590"/>
        </a:xfrm>
        <a:prstGeom prst="rect">
          <a:avLst/>
        </a:prstGeom>
        <a:solidFill>
          <a:srgbClr val="7030A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求波兰</a:t>
          </a:r>
          <a:r>
            <a:rPr lang="en-US" altLang="zh-CN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/>
          </a:r>
          <a:br>
            <a:rPr lang="en-US" altLang="zh-CN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</a:br>
          <a:r>
            <a:rPr lang="zh-CN" altLang="en-US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表达式的值</a:t>
          </a:r>
          <a:endParaRPr lang="en-US" altLang="zh-CN" sz="3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6151165" y="280491"/>
        <a:ext cx="2795984" cy="1677590"/>
      </dsp:txXfrm>
    </dsp:sp>
    <dsp:sp modelId="{B768E38C-39A5-4162-8880-005585CD08BD}">
      <dsp:nvSpPr>
        <dsp:cNvPr id="0" name=""/>
        <dsp:cNvSpPr/>
      </dsp:nvSpPr>
      <dsp:spPr>
        <a:xfrm>
          <a:off x="0" y="2204128"/>
          <a:ext cx="2795984" cy="1677590"/>
        </a:xfrm>
        <a:prstGeom prst="rect">
          <a:avLst/>
        </a:prstGeom>
        <a:solidFill>
          <a:schemeClr val="accent4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3600" b="0" i="0" kern="1200" dirty="0"/>
            <a:t>2</a:t>
          </a:r>
          <a:r>
            <a:rPr lang="zh-CN" altLang="en-US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的幂次方表示</a:t>
          </a:r>
          <a:endParaRPr lang="zh-CN" sz="3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0" y="2204128"/>
        <a:ext cx="2795984" cy="1677590"/>
      </dsp:txXfrm>
    </dsp:sp>
    <dsp:sp modelId="{C84749FE-D2FD-4E40-AA71-8D37357933AB}">
      <dsp:nvSpPr>
        <dsp:cNvPr id="0" name=""/>
        <dsp:cNvSpPr/>
      </dsp:nvSpPr>
      <dsp:spPr>
        <a:xfrm>
          <a:off x="3075582" y="2237680"/>
          <a:ext cx="2795984" cy="1677590"/>
        </a:xfrm>
        <a:prstGeom prst="rect">
          <a:avLst/>
        </a:prstGeom>
        <a:solidFill>
          <a:srgbClr val="FF0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快速幂</a:t>
          </a:r>
          <a:endParaRPr lang="zh-CN" sz="3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3075582" y="2237680"/>
        <a:ext cx="2795984" cy="1677590"/>
      </dsp:txXfrm>
    </dsp:sp>
    <dsp:sp modelId="{62219937-6A97-4BE0-B983-2545B3A2B483}">
      <dsp:nvSpPr>
        <dsp:cNvPr id="0" name=""/>
        <dsp:cNvSpPr/>
      </dsp:nvSpPr>
      <dsp:spPr>
        <a:xfrm>
          <a:off x="6151165" y="2237680"/>
          <a:ext cx="2795984" cy="1677590"/>
        </a:xfrm>
        <a:prstGeom prst="rect">
          <a:avLst/>
        </a:prstGeom>
        <a:solidFill>
          <a:srgbClr val="0070C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算</a:t>
          </a:r>
          <a:r>
            <a:rPr lang="en-US" altLang="zh-CN" sz="3600" kern="1200" dirty="0">
              <a:latin typeface="Microsoft YaHei UI" panose="020B0503020204020204" pitchFamily="34" charset="-122"/>
              <a:ea typeface="Microsoft YaHei UI" panose="020B0503020204020204" pitchFamily="34" charset="-122"/>
            </a:rPr>
            <a:t>24</a:t>
          </a:r>
          <a:endParaRPr lang="zh-CN" sz="3600" kern="1200" dirty="0">
            <a:latin typeface="Microsoft YaHei UI" panose="020B0503020204020204" pitchFamily="34" charset="-122"/>
            <a:ea typeface="Microsoft YaHei UI" panose="020B0503020204020204" pitchFamily="34" charset="-122"/>
          </a:endParaRPr>
        </a:p>
      </dsp:txBody>
      <dsp:txXfrm>
        <a:off x="6151165" y="2237680"/>
        <a:ext cx="2795984" cy="16775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CN" sz="1200"/>
            </a:lvl1pPr>
          </a:lstStyle>
          <a:p>
            <a:fld id="{E574AC39-44E6-425E-AF49-CF7D189F346F}" type="datetimeFigureOut">
              <a:rPr lang="en-US" altLang="zh-CN" smtClean="0">
                <a:ea typeface="Microsoft YaHei UI" panose="020B0503020204020204" pitchFamily="34" charset="-122"/>
              </a:rPr>
              <a:t>3/23/2021</a:t>
            </a:fld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CN" sz="1200"/>
            </a:lvl1pPr>
          </a:lstStyle>
          <a:p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CN" sz="1200"/>
            </a:lvl1pPr>
          </a:lstStyle>
          <a:p>
            <a:fld id="{6320F472-929B-459B-8D82-2FABCC5B32A0}" type="slidenum">
              <a:rPr lang="zh-CN" smtClean="0">
                <a:ea typeface="Microsoft YaHei UI" panose="020B0503020204020204" pitchFamily="34" charset="-122"/>
              </a:rPr>
              <a:t>‹#›</a:t>
            </a:fld>
            <a:endParaRPr lang="zh-CN" dirty="0"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2264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8132" y="0"/>
            <a:ext cx="3043343" cy="467072"/>
          </a:xfrm>
          <a:prstGeom prst="rect">
            <a:avLst/>
          </a:prstGeom>
        </p:spPr>
        <p:txBody>
          <a:bodyPr vert="horz" lIns="93324" tIns="46662" rIns="93324" bIns="46662" rtlCol="0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DF2775BC-6312-42C7-B7C5-EA6783C2D9CA}" type="datetimeFigureOut">
              <a:rPr lang="en-US" altLang="zh-CN" smtClean="0"/>
              <a:pPr/>
              <a:t>3/23/2021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324" tIns="46662" rIns="93324" bIns="46662" rtlCol="0" anchor="ctr"/>
          <a:lstStyle/>
          <a:p>
            <a:endParaRPr lang="zh-CN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2310" y="4480004"/>
            <a:ext cx="5618480" cy="3665458"/>
          </a:xfrm>
          <a:prstGeom prst="rect">
            <a:avLst/>
          </a:prstGeom>
        </p:spPr>
        <p:txBody>
          <a:bodyPr vert="horz" lIns="93324" tIns="46662" rIns="93324" bIns="46662" rtlCol="0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l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8132" y="8842030"/>
            <a:ext cx="3043343" cy="467071"/>
          </a:xfrm>
          <a:prstGeom prst="rect">
            <a:avLst/>
          </a:prstGeom>
        </p:spPr>
        <p:txBody>
          <a:bodyPr vert="horz" lIns="93324" tIns="46662" rIns="93324" bIns="46662" rtlCol="0" anchor="b"/>
          <a:lstStyle>
            <a:lvl1pPr algn="r" latinLnBrk="0">
              <a:defRPr lang="zh-CN" sz="1200">
                <a:ea typeface="Microsoft YaHei UI" panose="020B0503020204020204" pitchFamily="34" charset="-122"/>
              </a:defRPr>
            </a:lvl1pPr>
          </a:lstStyle>
          <a:p>
            <a:fld id="{67F715A1-4ADC-44E0-9587-804FF39D6B22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984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lang="zh-CN" sz="1200" kern="1200">
        <a:solidFill>
          <a:schemeClr val="tx1"/>
        </a:solidFill>
        <a:latin typeface="+mn-lt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CN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 latinLnBrk="0">
              <a:defRPr lang="zh-CN" sz="7200"/>
            </a:lvl1pPr>
          </a:lstStyle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 latinLnBrk="0">
              <a:buNone/>
              <a:defRPr lang="zh-CN" cap="all">
                <a:solidFill>
                  <a:schemeClr val="accent1"/>
                </a:solidFill>
              </a:defRPr>
            </a:lvl1pPr>
            <a:lvl2pPr marL="457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CN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940892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lnSpc>
                <a:spcPct val="150000"/>
              </a:lnSpc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2244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rgbClr val="272822"/>
          </a:solidFill>
        </p:spPr>
        <p:txBody>
          <a:bodyPr/>
          <a:lstStyle>
            <a:lvl1pPr>
              <a:lnSpc>
                <a:spcPct val="150000"/>
              </a:lnSpc>
              <a:defRPr sz="3200"/>
            </a:lvl1pPr>
            <a:lvl2pPr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3913292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all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362998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12208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 latinLnBrk="0">
              <a:defRPr lang="zh-CN" sz="1800"/>
            </a:lvl1pPr>
            <a:lvl2pPr latinLnBrk="0">
              <a:defRPr lang="zh-CN" sz="1600"/>
            </a:lvl2pPr>
            <a:lvl3pPr latinLnBrk="0">
              <a:defRPr lang="zh-CN" sz="1400"/>
            </a:lvl3pPr>
            <a:lvl4pPr latinLnBrk="0">
              <a:defRPr lang="zh-CN" sz="1200"/>
            </a:lvl4pPr>
            <a:lvl5pPr latinLnBrk="0">
              <a:defRPr lang="zh-CN" sz="1200"/>
            </a:lvl5pPr>
            <a:lvl6pPr latinLnBrk="0">
              <a:defRPr lang="zh-CN" sz="1200"/>
            </a:lvl6pPr>
            <a:lvl7pPr latinLnBrk="0">
              <a:defRPr lang="zh-CN" sz="1200"/>
            </a:lvl7pPr>
            <a:lvl8pPr latinLnBrk="0">
              <a:defRPr lang="zh-CN" sz="1200"/>
            </a:lvl8pPr>
            <a:lvl9pPr latinLnBrk="0">
              <a:defRPr lang="zh-CN"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18220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359123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51531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 latinLnBrk="0">
              <a:defRPr lang="zh-CN" sz="2000"/>
            </a:lvl1pPr>
            <a:lvl2pPr latinLnBrk="0">
              <a:defRPr lang="zh-CN" sz="1800"/>
            </a:lvl2pPr>
            <a:lvl3pPr latinLnBrk="0">
              <a:defRPr lang="zh-CN" sz="1600"/>
            </a:lvl3pPr>
            <a:lvl4pPr latinLnBrk="0">
              <a:defRPr lang="zh-CN" sz="1400"/>
            </a:lvl4pPr>
            <a:lvl5pPr latinLnBrk="0">
              <a:defRPr lang="zh-CN" sz="1400"/>
            </a:lvl5pPr>
            <a:lvl6pPr latinLnBrk="0">
              <a:defRPr lang="zh-CN" sz="1400"/>
            </a:lvl6pPr>
            <a:lvl7pPr latinLnBrk="0">
              <a:defRPr lang="zh-CN" sz="1400"/>
            </a:lvl7pPr>
            <a:lvl8pPr latinLnBrk="0">
              <a:defRPr lang="zh-CN" sz="1400"/>
            </a:lvl8pPr>
            <a:lvl9pPr latinLnBrk="0">
              <a:defRPr lang="zh-CN"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757989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 latinLnBrk="0">
              <a:defRPr lang="zh-CN" sz="36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6908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全景图片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 latinLnBrk="0">
              <a:defRPr lang="zh-CN" sz="2400" b="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 latinLnBrk="0">
              <a:buNone/>
              <a:defRPr lang="zh-CN" sz="12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581391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409152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与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385828" cy="342174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 b="0" kern="1200" cap="small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762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 latinLnBrk="0">
              <a:defRPr lang="zh-CN" sz="4000" b="0" cap="none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 latinLnBrk="0">
              <a:buNone/>
              <a:defRPr lang="zh-CN" sz="2000" cap="none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CN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CN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0494607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3163026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8" name="文本占位符 3"/>
          <p:cNvSpPr>
            <a:spLocks noGrp="1"/>
          </p:cNvSpPr>
          <p:nvPr>
            <p:ph type="body" sz="half" idx="2"/>
          </p:nvPr>
        </p:nvSpPr>
        <p:spPr>
          <a:xfrm>
            <a:off x="1574801" y="4953000"/>
            <a:ext cx="7999315" cy="1074057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 b="0" kern="1200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334033" y="331651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”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r" latinLnBrk="0">
              <a:defRPr lang="zh-CN" sz="12200" b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zh-CN" dirty="0">
                <a:ea typeface="Microsoft YaHei UI" panose="020B0503020204020204" pitchFamily="34" charset="-122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6645840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 latinLnBrk="0">
              <a:defRPr lang="zh-CN" sz="48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  <p:sp>
        <p:nvSpPr>
          <p:cNvPr id="10" name="文本占位符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8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3" name="文本占位符 3"/>
          <p:cNvSpPr>
            <a:spLocks noGrp="1"/>
          </p:cNvSpPr>
          <p:nvPr>
            <p:ph type="body" sz="half" idx="13"/>
          </p:nvPr>
        </p:nvSpPr>
        <p:spPr>
          <a:xfrm>
            <a:off x="1154953" y="3848610"/>
            <a:ext cx="8825659" cy="588517"/>
          </a:xfrm>
        </p:spPr>
        <p:txBody>
          <a:bodyPr anchor="b">
            <a:normAutofit/>
          </a:bodyPr>
          <a:lstStyle>
            <a:lvl1pPr marL="0" indent="0" algn="l" defTabSz="457200" rtl="0" eaLnBrk="1" latinLnBrk="0" hangingPunct="1">
              <a:buNone/>
              <a:defRPr lang="zh-CN" sz="3600" b="0" kern="1200" cap="none">
                <a:solidFill>
                  <a:schemeClr val="accent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922269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9" name="文本占位符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文本占位符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20649470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CN" sz="4000"/>
            </a:lvl1pPr>
          </a:lstStyle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CN" sz="2400" b="0">
                <a:solidFill>
                  <a:schemeClr val="accent1"/>
                </a:solidFill>
              </a:defRPr>
            </a:lvl1pPr>
            <a:lvl2pPr marL="457200" indent="0" latinLnBrk="0">
              <a:buNone/>
              <a:defRPr lang="zh-CN" sz="2000" b="1"/>
            </a:lvl2pPr>
            <a:lvl3pPr marL="914400" indent="0" latinLnBrk="0">
              <a:buNone/>
              <a:defRPr lang="zh-CN" sz="1800" b="1"/>
            </a:lvl3pPr>
            <a:lvl4pPr marL="1371600" indent="0" latinLnBrk="0">
              <a:buNone/>
              <a:defRPr lang="zh-CN" sz="1600" b="1"/>
            </a:lvl4pPr>
            <a:lvl5pPr marL="1828800" indent="0" latinLnBrk="0">
              <a:buNone/>
              <a:defRPr lang="zh-CN" sz="1600" b="1"/>
            </a:lvl5pPr>
            <a:lvl6pPr marL="2286000" indent="0" latinLnBrk="0">
              <a:buNone/>
              <a:defRPr lang="zh-CN" sz="1600" b="1"/>
            </a:lvl6pPr>
            <a:lvl7pPr marL="2743200" indent="0" latinLnBrk="0">
              <a:buNone/>
              <a:defRPr lang="zh-CN" sz="1600" b="1"/>
            </a:lvl7pPr>
            <a:lvl8pPr marL="3200400" indent="0" latinLnBrk="0">
              <a:buNone/>
              <a:defRPr lang="zh-CN" sz="1600" b="1"/>
            </a:lvl8pPr>
            <a:lvl9pPr marL="3657600" indent="0" latinLnBrk="0">
              <a:buNone/>
              <a:defRPr lang="zh-CN"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文本占位符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文本占位符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4" name="文本占位符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 latinLnBrk="0">
              <a:buNone/>
              <a:defRPr lang="zh-CN" sz="1400"/>
            </a:lvl1pPr>
            <a:lvl2pPr marL="457200" indent="0" latinLnBrk="0">
              <a:buNone/>
              <a:defRPr lang="zh-CN" sz="1200"/>
            </a:lvl2pPr>
            <a:lvl3pPr marL="914400" indent="0" latinLnBrk="0">
              <a:buNone/>
              <a:defRPr lang="zh-CN" sz="1000"/>
            </a:lvl3pPr>
            <a:lvl4pPr marL="1371600" indent="0" latinLnBrk="0">
              <a:buNone/>
              <a:defRPr lang="zh-CN" sz="900"/>
            </a:lvl4pPr>
            <a:lvl5pPr marL="1828800" indent="0" latinLnBrk="0">
              <a:buNone/>
              <a:defRPr lang="zh-CN" sz="900"/>
            </a:lvl5pPr>
            <a:lvl6pPr marL="2286000" indent="0" latinLnBrk="0">
              <a:buNone/>
              <a:defRPr lang="zh-CN" sz="900"/>
            </a:lvl6pPr>
            <a:lvl7pPr marL="2743200" indent="0" latinLnBrk="0">
              <a:buNone/>
              <a:defRPr lang="zh-CN" sz="900"/>
            </a:lvl7pPr>
            <a:lvl8pPr marL="3200400" indent="0" latinLnBrk="0">
              <a:buNone/>
              <a:defRPr lang="zh-CN" sz="900"/>
            </a:lvl8pPr>
            <a:lvl9pPr marL="3657600" indent="0" latinLnBrk="0">
              <a:buNone/>
              <a:defRPr lang="zh-CN"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9" name="图片占位符 2"/>
          <p:cNvSpPr>
            <a:spLocks noGrp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0" name="图片占位符 2"/>
          <p:cNvSpPr>
            <a:spLocks noGrp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sp>
        <p:nvSpPr>
          <p:cNvPr id="31" name="图片占位符 2"/>
          <p:cNvSpPr>
            <a:spLocks noGrp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ctr">
            <a:normAutofit/>
          </a:bodyPr>
          <a:lstStyle>
            <a:lvl1pPr marL="0" indent="0" algn="ctr" latinLnBrk="0">
              <a:buNone/>
              <a:defRPr lang="zh-CN" sz="1600"/>
            </a:lvl1pPr>
            <a:lvl2pPr marL="457200" indent="0" latinLnBrk="0">
              <a:buNone/>
              <a:defRPr lang="zh-CN" sz="2800"/>
            </a:lvl2pPr>
            <a:lvl3pPr marL="914400" indent="0" latinLnBrk="0">
              <a:buNone/>
              <a:defRPr lang="zh-CN" sz="2400"/>
            </a:lvl3pPr>
            <a:lvl4pPr marL="1371600" indent="0" latinLnBrk="0">
              <a:buNone/>
              <a:defRPr lang="zh-CN" sz="2000"/>
            </a:lvl4pPr>
            <a:lvl5pPr marL="1828800" indent="0" latinLnBrk="0">
              <a:buNone/>
              <a:defRPr lang="zh-CN" sz="2000"/>
            </a:lvl5pPr>
            <a:lvl6pPr marL="2286000" indent="0" latinLnBrk="0">
              <a:buNone/>
              <a:defRPr lang="zh-CN" sz="2000"/>
            </a:lvl6pPr>
            <a:lvl7pPr marL="2743200" indent="0" latinLnBrk="0">
              <a:buNone/>
              <a:defRPr lang="zh-CN" sz="2000"/>
            </a:lvl7pPr>
            <a:lvl8pPr marL="3200400" indent="0" latinLnBrk="0">
              <a:buNone/>
              <a:defRPr lang="zh-CN" sz="2000"/>
            </a:lvl8pPr>
            <a:lvl9pPr marL="3657600" indent="0" latinLnBrk="0">
              <a:buNone/>
              <a:defRPr lang="zh-CN" sz="2000"/>
            </a:lvl9pPr>
          </a:lstStyle>
          <a:p>
            <a:r>
              <a:rPr lang="zh-CN" altLang="en-US"/>
              <a:t>单击图标添加图片</a:t>
            </a:r>
            <a:endParaRPr lang="zh-CN"/>
          </a:p>
        </p:txBody>
      </p:sp>
      <p:cxnSp>
        <p:nvCxnSpPr>
          <p:cNvPr id="17" name="直线连接线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线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40335526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anchor="b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50983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164151" y="1447799"/>
            <a:ext cx="1409965" cy="4413251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zh-CN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4954" y="1447799"/>
            <a:ext cx="6776630" cy="44132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40FF0622-75E4-48B8-A617-5428CA5926CE}" type="datetimeFigureOut">
              <a:t>2021/3/23</a:t>
            </a:fld>
            <a:endParaRPr lang="zh-CN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75541-8164-4CC7-9F2F-6F0C49BB858D}" type="slidenum">
              <a:t>‹#›</a:t>
            </a:fld>
            <a:endParaRPr lang="zh-CN" dirty="0"/>
          </a:p>
        </p:txBody>
      </p:sp>
    </p:spTree>
    <p:extLst>
      <p:ext uri="{BB962C8B-B14F-4D97-AF65-F5344CB8AC3E}">
        <p14:creationId xmlns:p14="http://schemas.microsoft.com/office/powerpoint/2010/main" val="38900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1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799941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860901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dirty="0">
              <a:ea typeface="Microsoft YaHei UI" panose="020B0503020204020204" pitchFamily="34" charset="-122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8245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53071" y="1447800"/>
            <a:ext cx="10935955" cy="489037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  <a:p>
            <a:pPr lvl="2"/>
            <a:r>
              <a:rPr lang="zh-CN" dirty="0"/>
              <a:t>第三级</a:t>
            </a:r>
          </a:p>
          <a:p>
            <a:pPr lvl="3"/>
            <a:r>
              <a:rPr lang="zh-CN" dirty="0"/>
              <a:t>第四级</a:t>
            </a:r>
          </a:p>
          <a:p>
            <a:pPr lvl="4"/>
            <a:r>
              <a:rPr lang="zh-CN" dirty="0"/>
              <a:t>第五级</a:t>
            </a:r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 latinLnBrk="0">
              <a:defRPr lang="zh-CN" sz="2800" b="0">
                <a:solidFill>
                  <a:schemeClr val="tx1">
                    <a:tint val="75000"/>
                  </a:schemeClr>
                </a:solidFill>
                <a:ea typeface="Microsoft YaHei UI" panose="020B0503020204020204" pitchFamily="34" charset="-122"/>
              </a:defRPr>
            </a:lvl1pPr>
          </a:lstStyle>
          <a:p>
            <a:fld id="{BA875541-8164-4CC7-9F2F-6F0C49BB858D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634672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70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</p:sldLayoutIdLst>
  <p:txStyles>
    <p:titleStyle>
      <a:lvl1pPr algn="l" defTabSz="457200" rtl="0" eaLnBrk="1" latinLnBrk="0" hangingPunct="1">
        <a:spcBef>
          <a:spcPct val="0"/>
        </a:spcBef>
        <a:buNone/>
        <a:defRPr lang="zh-CN" sz="4200" b="0" kern="1200">
          <a:solidFill>
            <a:schemeClr val="tx2"/>
          </a:solidFill>
          <a:latin typeface="+mj-lt"/>
          <a:ea typeface="Microsoft YaHei UI" panose="020B0503020204020204" pitchFamily="34" charset="-122"/>
          <a:cs typeface="+mj-cs"/>
        </a:defRPr>
      </a:lvl1pPr>
      <a:lvl2pPr eaLnBrk="1" latinLnBrk="0" hangingPunct="1">
        <a:defRPr lang="zh-CN">
          <a:solidFill>
            <a:schemeClr val="tx2"/>
          </a:solidFill>
        </a:defRPr>
      </a:lvl2pPr>
      <a:lvl3pPr eaLnBrk="1" latinLnBrk="0" hangingPunct="1">
        <a:defRPr lang="zh-CN">
          <a:solidFill>
            <a:schemeClr val="tx2"/>
          </a:solidFill>
        </a:defRPr>
      </a:lvl3pPr>
      <a:lvl4pPr eaLnBrk="1" latinLnBrk="0" hangingPunct="1">
        <a:defRPr lang="zh-CN">
          <a:solidFill>
            <a:schemeClr val="tx2"/>
          </a:solidFill>
        </a:defRPr>
      </a:lvl4pPr>
      <a:lvl5pPr eaLnBrk="1" latinLnBrk="0" hangingPunct="1">
        <a:defRPr lang="zh-CN">
          <a:solidFill>
            <a:schemeClr val="tx2"/>
          </a:solidFill>
        </a:defRPr>
      </a:lvl5pPr>
      <a:lvl6pPr eaLnBrk="1" latinLnBrk="0" hangingPunct="1">
        <a:defRPr lang="zh-CN">
          <a:solidFill>
            <a:schemeClr val="tx2"/>
          </a:solidFill>
        </a:defRPr>
      </a:lvl6pPr>
      <a:lvl7pPr eaLnBrk="1" latinLnBrk="0" hangingPunct="1">
        <a:defRPr lang="zh-CN">
          <a:solidFill>
            <a:schemeClr val="tx2"/>
          </a:solidFill>
        </a:defRPr>
      </a:lvl7pPr>
      <a:lvl8pPr eaLnBrk="1" latinLnBrk="0" hangingPunct="1">
        <a:defRPr lang="zh-CN">
          <a:solidFill>
            <a:schemeClr val="tx2"/>
          </a:solidFill>
        </a:defRPr>
      </a:lvl8pPr>
      <a:lvl9pPr eaLnBrk="1" latinLnBrk="0" hangingPunct="1">
        <a:defRPr lang="zh-CN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2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800" b="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Microsoft YaHei UI" panose="020B0503020204020204" pitchFamily="34" charset="-122"/>
          <a:cs typeface="+mj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6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400" b="0" kern="1200">
          <a:solidFill>
            <a:schemeClr val="tx1"/>
          </a:solidFill>
          <a:latin typeface="+mj-lt"/>
          <a:ea typeface="Microsoft YaHei UI" panose="020B0503020204020204" pitchFamily="34" charset="-122"/>
          <a:cs typeface="+mj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80000"/>
        <a:buFont typeface="Wingdings 3" charset="2"/>
        <a:buChar char=""/>
        <a:defRPr lang="zh-CN" sz="1200" b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68077" y="3683001"/>
            <a:ext cx="8825658" cy="1790700"/>
          </a:xfrm>
        </p:spPr>
        <p:txBody>
          <a:bodyPr>
            <a:normAutofit fontScale="925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FFC000"/>
                </a:solidFill>
              </a:rPr>
              <a:t>信息学院</a:t>
            </a:r>
            <a:r>
              <a:rPr lang="zh-CN" altLang="zh-CN" sz="3600" b="1" dirty="0">
                <a:solidFill>
                  <a:srgbClr val="FFC000"/>
                </a:solidFill>
              </a:rPr>
              <a:t>| </a:t>
            </a:r>
            <a:r>
              <a:rPr lang="zh-CN" altLang="en-US" sz="3600" b="1" dirty="0">
                <a:solidFill>
                  <a:srgbClr val="FFC000"/>
                </a:solidFill>
              </a:rPr>
              <a:t>在线编程实训</a:t>
            </a:r>
            <a:endParaRPr lang="en-US" altLang="zh-CN" sz="3600" b="1" dirty="0">
              <a:solidFill>
                <a:srgbClr val="FFC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3600" b="1" dirty="0">
                <a:solidFill>
                  <a:srgbClr val="FFC000"/>
                </a:solidFill>
              </a:rPr>
              <a:t>2021</a:t>
            </a:r>
            <a:r>
              <a:rPr lang="zh-CN" altLang="en-US" sz="3600" b="1" dirty="0">
                <a:solidFill>
                  <a:srgbClr val="FFC000"/>
                </a:solidFill>
              </a:rPr>
              <a:t>年</a:t>
            </a:r>
            <a:r>
              <a:rPr lang="en-US" altLang="zh-CN" sz="3600" b="1" dirty="0">
                <a:solidFill>
                  <a:srgbClr val="FFC000"/>
                </a:solidFill>
              </a:rPr>
              <a:t>3</a:t>
            </a:r>
            <a:r>
              <a:rPr lang="zh-CN" altLang="en-US" sz="3600" b="1" dirty="0">
                <a:solidFill>
                  <a:srgbClr val="FFC000"/>
                </a:solidFill>
              </a:rPr>
              <a:t>月</a:t>
            </a:r>
            <a:r>
              <a:rPr lang="en-US" altLang="zh-CN" sz="3600" b="1">
                <a:solidFill>
                  <a:srgbClr val="FFC000"/>
                </a:solidFill>
              </a:rPr>
              <a:t>23</a:t>
            </a:r>
            <a:r>
              <a:rPr lang="zh-CN" altLang="en-US" sz="3600" b="1">
                <a:solidFill>
                  <a:srgbClr val="FFC000"/>
                </a:solidFill>
              </a:rPr>
              <a:t>日</a:t>
            </a:r>
            <a:endParaRPr lang="en-US" altLang="zh-CN" sz="3600" b="1" dirty="0">
              <a:solidFill>
                <a:srgbClr val="FFC000"/>
              </a:solidFill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xmlns="" id="{6E241F11-C3AA-4468-B49C-A0A93AC0DF16}"/>
              </a:ext>
            </a:extLst>
          </p:cNvPr>
          <p:cNvSpPr txBox="1">
            <a:spLocks/>
          </p:cNvSpPr>
          <p:nvPr/>
        </p:nvSpPr>
        <p:spPr>
          <a:xfrm>
            <a:off x="1100530" y="1573338"/>
            <a:ext cx="9582952" cy="118689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7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5400" dirty="0">
                <a:solidFill>
                  <a:schemeClr val="tx1"/>
                </a:solidFill>
              </a:rPr>
              <a:t>校外实训一</a:t>
            </a:r>
          </a:p>
        </p:txBody>
      </p:sp>
    </p:spTree>
    <p:extLst>
      <p:ext uri="{BB962C8B-B14F-4D97-AF65-F5344CB8AC3E}">
        <p14:creationId xmlns:p14="http://schemas.microsoft.com/office/powerpoint/2010/main" val="4005440639"/>
      </p:ext>
    </p:extLst>
  </p:cSld>
  <p:clrMapOvr>
    <a:masterClrMapping/>
  </p:clrMapOvr>
  <p:transition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044930"/>
          </a:xfrm>
          <a:solidFill>
            <a:srgbClr val="7030A0"/>
          </a:solidFill>
        </p:spPr>
        <p:txBody>
          <a:bodyPr/>
          <a:lstStyle/>
          <a:p>
            <a:pPr algn="ctr"/>
            <a:r>
              <a:rPr lang="zh-CN" altLang="en-US" sz="6000" dirty="0"/>
              <a:t>递归</a:t>
            </a:r>
            <a:r>
              <a:rPr lang="en-US" altLang="zh-CN" sz="6000" dirty="0"/>
              <a:t>II</a:t>
            </a:r>
            <a:endParaRPr lang="zh-CN" sz="6000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288447"/>
              </p:ext>
            </p:extLst>
          </p:nvPr>
        </p:nvGraphicFramePr>
        <p:xfrm>
          <a:off x="1103684" y="1700300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9949006"/>
      </p:ext>
    </p:extLst>
  </p:cSld>
  <p:clrMapOvr>
    <a:masterClrMapping/>
  </p:clrMapOvr>
  <p:transition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649234" y="5626359"/>
            <a:ext cx="7435713" cy="877183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5400" dirty="0"/>
              <a:t>例题</a:t>
            </a:r>
            <a:r>
              <a:rPr lang="en-US" altLang="zh-CN" sz="5400" dirty="0">
                <a:latin typeface="Microsoft YaHei UI" panose="020B0503020204020204" pitchFamily="34" charset="-122"/>
              </a:rPr>
              <a:t>1</a:t>
            </a:r>
            <a:r>
              <a:rPr lang="zh-CN" altLang="en-US" sz="5400" dirty="0">
                <a:latin typeface="Microsoft YaHei UI" panose="020B0503020204020204" pitchFamily="34" charset="-122"/>
              </a:rPr>
              <a:t>：爬天梯</a:t>
            </a:r>
            <a:endParaRPr lang="zh-CN" altLang="zh-CN" sz="5400" dirty="0">
              <a:latin typeface="Microsoft YaHei UI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1" t="10169" r="1053"/>
          <a:stretch/>
        </p:blipFill>
        <p:spPr>
          <a:xfrm>
            <a:off x="1649234" y="398963"/>
            <a:ext cx="7445210" cy="495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17489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爬天梯</a:t>
            </a: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227" y="1261187"/>
            <a:ext cx="6446732" cy="53320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449" y="2390191"/>
            <a:ext cx="3627869" cy="420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74234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边界分析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设台阶数为</a:t>
            </a:r>
            <a:r>
              <a:rPr lang="en-US" altLang="zh-CN" dirty="0" err="1"/>
              <a:t>n,f</a:t>
            </a:r>
            <a:r>
              <a:rPr lang="en-US" altLang="zh-CN" dirty="0"/>
              <a:t>(n)</a:t>
            </a:r>
            <a:r>
              <a:rPr lang="zh-CN" altLang="en-US" dirty="0"/>
              <a:t>表示爬</a:t>
            </a:r>
            <a:r>
              <a:rPr lang="en-US" altLang="zh-CN" dirty="0"/>
              <a:t>n</a:t>
            </a:r>
            <a:r>
              <a:rPr lang="zh-CN" altLang="en-US" dirty="0"/>
              <a:t>级台阶的方案数</a:t>
            </a:r>
            <a:endParaRPr lang="en-US" altLang="zh-CN" dirty="0"/>
          </a:p>
          <a:p>
            <a:pPr lvl="1"/>
            <a:r>
              <a:rPr lang="en-US" altLang="zh-CN" dirty="0"/>
              <a:t>n=0 </a:t>
            </a:r>
            <a:r>
              <a:rPr lang="zh-CN" altLang="en-US" dirty="0"/>
              <a:t>意味着没台阶，则</a:t>
            </a:r>
            <a:r>
              <a:rPr lang="en-US" altLang="zh-CN" dirty="0"/>
              <a:t>f(0)=1 </a:t>
            </a:r>
            <a:r>
              <a:rPr lang="zh-CN" altLang="en-US" dirty="0"/>
              <a:t>即一种解法：不走。</a:t>
            </a:r>
            <a:endParaRPr lang="en-US" altLang="zh-CN" dirty="0"/>
          </a:p>
          <a:p>
            <a:pPr lvl="1"/>
            <a:r>
              <a:rPr lang="en-US" altLang="zh-CN" dirty="0"/>
              <a:t>n=1</a:t>
            </a:r>
            <a:r>
              <a:rPr lang="zh-CN" altLang="en-US" dirty="0"/>
              <a:t>表示只有一级台阶，则</a:t>
            </a:r>
            <a:r>
              <a:rPr lang="en-US" altLang="zh-CN" dirty="0"/>
              <a:t>f(1)=1</a:t>
            </a:r>
            <a:r>
              <a:rPr lang="zh-CN" altLang="en-US" dirty="0"/>
              <a:t>只有一种解法</a:t>
            </a:r>
            <a:r>
              <a:rPr lang="en-US" altLang="zh-CN" dirty="0"/>
              <a:t>:</a:t>
            </a:r>
            <a:r>
              <a:rPr lang="zh-CN" altLang="en-US" dirty="0"/>
              <a:t>走一级台阶</a:t>
            </a:r>
            <a:endParaRPr lang="en-US" altLang="zh-CN" dirty="0"/>
          </a:p>
          <a:p>
            <a:pPr lvl="1"/>
            <a:r>
              <a:rPr lang="en-US" altLang="zh-CN" dirty="0"/>
              <a:t>n=2</a:t>
            </a:r>
            <a:r>
              <a:rPr lang="zh-CN" altLang="en-US" dirty="0"/>
              <a:t>表示有两级台阶，那么</a:t>
            </a:r>
            <a:r>
              <a:rPr lang="en-US" altLang="zh-CN" dirty="0"/>
              <a:t>f(2)=f(1)+f(0)</a:t>
            </a:r>
          </a:p>
          <a:p>
            <a:pPr marL="457200" lvl="1" indent="0">
              <a:buNone/>
            </a:pPr>
            <a:r>
              <a:rPr lang="en-US" altLang="zh-CN" dirty="0"/>
              <a:t>……</a:t>
            </a:r>
            <a:r>
              <a:rPr lang="zh-CN" altLang="en-US" dirty="0"/>
              <a:t>以此类推</a:t>
            </a:r>
          </a:p>
        </p:txBody>
      </p:sp>
    </p:spTree>
    <p:extLst>
      <p:ext uri="{BB962C8B-B14F-4D97-AF65-F5344CB8AC3E}">
        <p14:creationId xmlns:p14="http://schemas.microsoft.com/office/powerpoint/2010/main" val="504927003"/>
      </p:ext>
    </p:extLst>
  </p:cSld>
  <p:clrMapOvr>
    <a:masterClrMapping/>
  </p:clrMapOvr>
  <p:transition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题解：用递归缩小问题空间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5130" y="1447800"/>
            <a:ext cx="5813042" cy="4890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4000" dirty="0"/>
              <a:t>n</a:t>
            </a:r>
            <a:r>
              <a:rPr lang="zh-CN" altLang="en-US" sz="4000" dirty="0"/>
              <a:t>级台阶的走法</a:t>
            </a:r>
            <a:r>
              <a:rPr lang="zh-CN" altLang="en-US" sz="4000" spc="-90" dirty="0"/>
              <a:t> </a:t>
            </a:r>
            <a:r>
              <a:rPr lang="en-US" altLang="zh-CN" sz="4000" dirty="0"/>
              <a:t>=</a:t>
            </a:r>
          </a:p>
          <a:p>
            <a:pPr marL="400050" lvl="1" indent="0">
              <a:buNone/>
            </a:pPr>
            <a:r>
              <a:rPr lang="zh-CN" altLang="en-US" dirty="0">
                <a:latin typeface="微软雅黑"/>
                <a:cs typeface="微软雅黑"/>
              </a:rPr>
              <a:t>先走一级后，</a:t>
            </a:r>
            <a:r>
              <a:rPr lang="en-US" altLang="zh-CN" dirty="0">
                <a:latin typeface="微软雅黑"/>
                <a:cs typeface="微软雅黑"/>
              </a:rPr>
              <a:t>n-1</a:t>
            </a:r>
            <a:r>
              <a:rPr lang="zh-CN" altLang="en-US" spc="5" dirty="0">
                <a:latin typeface="微软雅黑"/>
                <a:cs typeface="微软雅黑"/>
              </a:rPr>
              <a:t>级台</a:t>
            </a:r>
            <a:r>
              <a:rPr lang="zh-CN" altLang="en-US" spc="-10" dirty="0">
                <a:latin typeface="微软雅黑"/>
                <a:cs typeface="微软雅黑"/>
              </a:rPr>
              <a:t>阶</a:t>
            </a:r>
            <a:r>
              <a:rPr lang="zh-CN" altLang="en-US" spc="5" dirty="0">
                <a:latin typeface="微软雅黑"/>
                <a:cs typeface="微软雅黑"/>
              </a:rPr>
              <a:t>的走法</a:t>
            </a:r>
            <a:r>
              <a:rPr lang="zh-CN" altLang="en-US" spc="-95" dirty="0">
                <a:latin typeface="微软雅黑"/>
                <a:cs typeface="微软雅黑"/>
              </a:rPr>
              <a:t> </a:t>
            </a:r>
            <a:r>
              <a:rPr lang="en-US" altLang="zh-CN" dirty="0">
                <a:latin typeface="微软雅黑"/>
                <a:cs typeface="微软雅黑"/>
              </a:rPr>
              <a:t>+  </a:t>
            </a:r>
            <a:br>
              <a:rPr lang="en-US" altLang="zh-CN" dirty="0">
                <a:latin typeface="微软雅黑"/>
                <a:cs typeface="微软雅黑"/>
              </a:rPr>
            </a:br>
            <a:r>
              <a:rPr lang="zh-CN" altLang="en-US" dirty="0">
                <a:latin typeface="微软雅黑"/>
                <a:cs typeface="微软雅黑"/>
              </a:rPr>
              <a:t>先走两级后，</a:t>
            </a:r>
            <a:r>
              <a:rPr lang="en-US" altLang="zh-CN" dirty="0">
                <a:latin typeface="微软雅黑"/>
                <a:cs typeface="微软雅黑"/>
              </a:rPr>
              <a:t>n-2</a:t>
            </a:r>
            <a:r>
              <a:rPr lang="zh-CN" altLang="en-US" dirty="0">
                <a:latin typeface="微软雅黑"/>
                <a:cs typeface="微软雅黑"/>
              </a:rPr>
              <a:t>级台阶的走法</a:t>
            </a:r>
          </a:p>
          <a:p>
            <a:pPr marL="0" marR="1880870" indent="0">
              <a:lnSpc>
                <a:spcPct val="200100"/>
              </a:lnSpc>
              <a:buNone/>
            </a:pPr>
            <a:r>
              <a:rPr lang="en-US" altLang="zh-CN" spc="-5" dirty="0">
                <a:latin typeface="微软雅黑"/>
                <a:cs typeface="微软雅黑"/>
              </a:rPr>
              <a:t>f(n) </a:t>
            </a:r>
            <a:r>
              <a:rPr lang="en-US" altLang="zh-CN" dirty="0">
                <a:latin typeface="微软雅黑"/>
                <a:cs typeface="微软雅黑"/>
              </a:rPr>
              <a:t>=</a:t>
            </a:r>
            <a:r>
              <a:rPr lang="en-US" altLang="zh-CN" spc="-40" dirty="0">
                <a:latin typeface="微软雅黑"/>
                <a:cs typeface="微软雅黑"/>
              </a:rPr>
              <a:t> </a:t>
            </a:r>
            <a:r>
              <a:rPr lang="en-US" altLang="zh-CN" spc="-5" dirty="0">
                <a:latin typeface="微软雅黑"/>
                <a:cs typeface="微软雅黑"/>
              </a:rPr>
              <a:t>f(n-1)+f(n-2) 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168242" y="1447800"/>
            <a:ext cx="4201885" cy="4890370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32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1pPr>
            <a:lvl2pPr marL="742950" indent="-285750" algn="l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2800" b="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icrosoft YaHei UI" panose="020B0503020204020204" pitchFamily="34" charset="-122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6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400" b="0" kern="1200">
                <a:solidFill>
                  <a:schemeClr val="tx1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lang="zh-CN" sz="12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>
              <a:buNone/>
            </a:pPr>
            <a:r>
              <a:rPr lang="zh-CN" altLang="en-US" spc="-5" dirty="0">
                <a:latin typeface="微软雅黑"/>
                <a:cs typeface="微软雅黑"/>
              </a:rPr>
              <a:t>边界条件：</a:t>
            </a:r>
          </a:p>
          <a:p>
            <a:pPr marL="0" indent="0">
              <a:buNone/>
            </a:pPr>
            <a:r>
              <a:rPr lang="en-US" altLang="zh-CN" spc="-5" dirty="0">
                <a:latin typeface="微软雅黑"/>
                <a:cs typeface="微软雅黑"/>
              </a:rPr>
              <a:t>n=0 f(n)=1 </a:t>
            </a:r>
          </a:p>
          <a:p>
            <a:pPr marL="0" indent="0">
              <a:buNone/>
            </a:pPr>
            <a:r>
              <a:rPr lang="en-US" altLang="zh-CN" spc="-5" dirty="0">
                <a:latin typeface="微软雅黑"/>
                <a:cs typeface="微软雅黑"/>
              </a:rPr>
              <a:t>n=1 f(n)=1</a:t>
            </a:r>
          </a:p>
          <a:p>
            <a:pPr marL="0" indent="0">
              <a:buNone/>
            </a:pPr>
            <a:endParaRPr lang="en-US" altLang="zh-CN" spc="-5" dirty="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10112264"/>
      </p:ext>
    </p:extLst>
  </p:cSld>
  <p:clrMapOvr>
    <a:masterClrMapping/>
  </p:clrMapOvr>
  <p:transition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173" y="1181701"/>
            <a:ext cx="6009579" cy="5359057"/>
          </a:xfrm>
          <a:prstGeom prst="rect">
            <a:avLst/>
          </a:prstGeom>
        </p:spPr>
      </p:pic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59173" y="256432"/>
            <a:ext cx="9404723" cy="824549"/>
          </a:xfrm>
        </p:spPr>
        <p:txBody>
          <a:bodyPr/>
          <a:lstStyle/>
          <a:p>
            <a:r>
              <a:rPr lang="zh-CN" altLang="en-US" dirty="0"/>
              <a:t>思路直接转换为代码</a:t>
            </a:r>
          </a:p>
        </p:txBody>
      </p:sp>
    </p:spTree>
    <p:extLst>
      <p:ext uri="{BB962C8B-B14F-4D97-AF65-F5344CB8AC3E}">
        <p14:creationId xmlns:p14="http://schemas.microsoft.com/office/powerpoint/2010/main" val="3833489595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3071" y="415053"/>
            <a:ext cx="9814486" cy="1516384"/>
          </a:xfrm>
        </p:spPr>
        <p:txBody>
          <a:bodyPr/>
          <a:lstStyle/>
          <a:p>
            <a:r>
              <a:rPr lang="zh-CN" altLang="en-US" sz="3200" dirty="0"/>
              <a:t>若</a:t>
            </a:r>
            <a:r>
              <a:rPr lang="en-US" altLang="zh-CN" sz="3200" dirty="0"/>
              <a:t>n</a:t>
            </a:r>
            <a:r>
              <a:rPr lang="zh-CN" altLang="en-US" sz="3200" dirty="0"/>
              <a:t>很大，为了避免整数溢出</a:t>
            </a:r>
            <a:r>
              <a:rPr lang="en-US" altLang="zh-CN" sz="3200" dirty="0"/>
              <a:t>,</a:t>
            </a:r>
            <a:r>
              <a:rPr lang="zh-CN" altLang="en-US" sz="3200" dirty="0"/>
              <a:t>计算过程中要取取模，也就是求 </a:t>
            </a:r>
            <a:r>
              <a:rPr lang="en-US" altLang="zh-CN" sz="3200" dirty="0" err="1"/>
              <a:t>a%p</a:t>
            </a:r>
            <a:r>
              <a:rPr lang="en-US" altLang="zh-CN" sz="3200" dirty="0"/>
              <a:t> </a:t>
            </a:r>
            <a:r>
              <a:rPr lang="zh-CN" altLang="en-US" sz="3200" dirty="0"/>
              <a:t>的值。</a:t>
            </a:r>
            <a:br>
              <a:rPr lang="zh-CN" altLang="en-US" sz="3200" dirty="0"/>
            </a:br>
            <a:r>
              <a:rPr lang="zh-CN" altLang="en-US" sz="3200" dirty="0"/>
              <a:t>模可以使用质数 </a:t>
            </a:r>
            <a:r>
              <a:rPr lang="en-US" altLang="zh-CN" sz="3200" dirty="0"/>
              <a:t>p = 10^9+7 = </a:t>
            </a:r>
            <a:r>
              <a:rPr lang="en-US" altLang="zh-CN" sz="3200" dirty="0" smtClean="0"/>
              <a:t>1000000007</a:t>
            </a:r>
            <a:endParaRPr lang="zh-CN" altLang="en-US" sz="32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071" y="2022929"/>
            <a:ext cx="5750265" cy="4608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0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558" y="1091728"/>
            <a:ext cx="8947589" cy="565206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5558" y="237770"/>
            <a:ext cx="8947589" cy="824549"/>
          </a:xfrm>
          <a:solidFill>
            <a:srgbClr val="00B050"/>
          </a:solidFill>
        </p:spPr>
        <p:txBody>
          <a:bodyPr/>
          <a:lstStyle/>
          <a:p>
            <a:pPr algn="ctr"/>
            <a:r>
              <a:rPr lang="zh-CN" altLang="en-US" dirty="0"/>
              <a:t>前十组</a:t>
            </a:r>
            <a:r>
              <a:rPr lang="en-US" altLang="zh-CN" dirty="0"/>
              <a:t>Accept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418346"/>
      </p:ext>
    </p:extLst>
  </p:cSld>
  <p:clrMapOvr>
    <a:masterClrMapping/>
  </p:clrMapOvr>
  <p:transition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5558" y="237770"/>
            <a:ext cx="8947589" cy="824549"/>
          </a:xfrm>
          <a:solidFill>
            <a:srgbClr val="FF0000"/>
          </a:solidFill>
        </p:spPr>
        <p:txBody>
          <a:bodyPr/>
          <a:lstStyle/>
          <a:p>
            <a:pPr algn="ctr"/>
            <a:r>
              <a:rPr lang="zh-CN" altLang="en-US" dirty="0"/>
              <a:t>后十组</a:t>
            </a:r>
            <a:r>
              <a:rPr lang="en-US" altLang="zh-CN" dirty="0"/>
              <a:t> </a:t>
            </a:r>
            <a:r>
              <a:rPr lang="zh-CN" altLang="en-US" dirty="0"/>
              <a:t>运行超时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5558" y="1691709"/>
            <a:ext cx="10527375" cy="423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460864"/>
      </p:ext>
    </p:extLst>
  </p:cSld>
  <p:clrMapOvr>
    <a:masterClrMapping/>
  </p:clrMapOvr>
  <p:transition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如何优化？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避免重复计算！ 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求</a:t>
            </a:r>
            <a:r>
              <a:rPr lang="en-US" altLang="zh-CN" dirty="0"/>
              <a:t>stairs(10) </a:t>
            </a:r>
            <a:r>
              <a:rPr lang="zh-CN" altLang="en-US" dirty="0"/>
              <a:t>则需要先求</a:t>
            </a:r>
            <a:r>
              <a:rPr lang="en-US" altLang="zh-CN" dirty="0"/>
              <a:t>stairs(9)</a:t>
            </a:r>
            <a:r>
              <a:rPr lang="zh-CN" altLang="en-US" dirty="0"/>
              <a:t>和</a:t>
            </a:r>
            <a:r>
              <a:rPr lang="en-US" altLang="zh-CN" dirty="0"/>
              <a:t>stairs(8)</a:t>
            </a:r>
            <a:r>
              <a:rPr lang="zh-CN" altLang="en-US" dirty="0"/>
              <a:t>，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然而在求</a:t>
            </a:r>
            <a:r>
              <a:rPr lang="en-US" altLang="zh-CN" dirty="0"/>
              <a:t>stairs(9)</a:t>
            </a:r>
            <a:r>
              <a:rPr lang="zh-CN" altLang="en-US" dirty="0"/>
              <a:t>的时候，</a:t>
            </a:r>
            <a:r>
              <a:rPr lang="en-US" altLang="zh-CN" dirty="0"/>
              <a:t>stairs(8)</a:t>
            </a:r>
            <a:r>
              <a:rPr lang="zh-CN" altLang="en-US" dirty="0"/>
              <a:t>已经计算过了，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因此需要避免计算</a:t>
            </a:r>
            <a:r>
              <a:rPr lang="en-US" altLang="zh-CN" dirty="0"/>
              <a:t>stairs(10)</a:t>
            </a:r>
            <a:r>
              <a:rPr lang="zh-CN" altLang="en-US" dirty="0"/>
              <a:t>的时候再把</a:t>
            </a:r>
            <a:r>
              <a:rPr lang="en-US" altLang="zh-CN" dirty="0"/>
              <a:t>stairs(8)</a:t>
            </a:r>
            <a:r>
              <a:rPr lang="zh-CN" altLang="en-US" dirty="0"/>
              <a:t>的重复计算</a:t>
            </a:r>
            <a:endParaRPr lang="en-US" altLang="zh-CN" dirty="0"/>
          </a:p>
          <a:p>
            <a:r>
              <a:rPr lang="zh-CN" altLang="en-US" dirty="0"/>
              <a:t>方法：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记忆化搜索</a:t>
            </a:r>
            <a:r>
              <a:rPr lang="en-US" altLang="zh-CN" dirty="0"/>
              <a:t>——</a:t>
            </a:r>
            <a:r>
              <a:rPr lang="zh-CN" altLang="en-US" dirty="0"/>
              <a:t>在搜索过程中创建备忘录，供后继计算查表</a:t>
            </a:r>
          </a:p>
        </p:txBody>
      </p:sp>
    </p:spTree>
    <p:extLst>
      <p:ext uri="{BB962C8B-B14F-4D97-AF65-F5344CB8AC3E}">
        <p14:creationId xmlns:p14="http://schemas.microsoft.com/office/powerpoint/2010/main" val="77376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记忆化搜索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98157"/>
            <a:ext cx="6268854" cy="5562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44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11" name="内容占位符 1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506" y="1619857"/>
            <a:ext cx="11026470" cy="468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76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232427" y="5316650"/>
            <a:ext cx="8550368" cy="953521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5400" dirty="0"/>
              <a:t>例题</a:t>
            </a:r>
            <a:r>
              <a:rPr lang="en-US" altLang="zh-CN" sz="5400" dirty="0">
                <a:latin typeface="Microsoft YaHei UI" panose="020B0503020204020204" pitchFamily="34" charset="-122"/>
              </a:rPr>
              <a:t>2</a:t>
            </a:r>
            <a:r>
              <a:rPr lang="zh-CN" altLang="en-US" sz="5400" dirty="0">
                <a:latin typeface="Microsoft YaHei UI" panose="020B0503020204020204" pitchFamily="34" charset="-122"/>
              </a:rPr>
              <a:t>：放苹果</a:t>
            </a:r>
            <a:endParaRPr lang="zh-CN" altLang="zh-CN" sz="5400" dirty="0">
              <a:latin typeface="Microsoft YaHei UI" panose="020B0503020204020204" pitchFamily="34" charset="-122"/>
            </a:endParaRPr>
          </a:p>
        </p:txBody>
      </p:sp>
      <p:pic>
        <p:nvPicPr>
          <p:cNvPr id="1026" name="Picture 2" descr="imag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427" y="900566"/>
            <a:ext cx="8550368" cy="423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1670059"/>
      </p:ext>
    </p:extLst>
  </p:cSld>
  <p:clrMapOvr>
    <a:masterClrMapping/>
  </p:clrMapOvr>
  <p:transition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放苹果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2910301"/>
            <a:ext cx="10448870" cy="3766724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1203738"/>
            <a:ext cx="1981200" cy="1419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9450" y="1190390"/>
            <a:ext cx="1581150" cy="1445920"/>
          </a:xfrm>
          <a:prstGeom prst="rect">
            <a:avLst/>
          </a:prstGeom>
        </p:spPr>
      </p:pic>
      <p:pic>
        <p:nvPicPr>
          <p:cNvPr id="2050" name="Picture 2" descr="imag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130" y="1131853"/>
            <a:ext cx="3211860" cy="1592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05963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分析</a:t>
            </a:r>
            <a:r>
              <a:rPr lang="en-US" altLang="zh-CN" b="1" spc="-5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cs typeface="Courier New"/>
              </a:rPr>
              <a:t>f(</a:t>
            </a:r>
            <a:r>
              <a:rPr lang="en-US" altLang="zh-CN" b="1" spc="-5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cs typeface="Courier New"/>
              </a:rPr>
              <a:t>x,y</a:t>
            </a:r>
            <a:r>
              <a:rPr lang="en-US" altLang="zh-CN" b="1" spc="-5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cs typeface="Courier New"/>
              </a:rPr>
              <a:t>):x</a:t>
            </a:r>
            <a:r>
              <a:rPr lang="zh-CN" altLang="en-US" b="1" spc="-5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cs typeface="Courier New"/>
              </a:rPr>
              <a:t>苹果数，</a:t>
            </a:r>
            <a:r>
              <a:rPr lang="en-US" altLang="zh-CN" b="1" spc="-5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cs typeface="Courier New"/>
              </a:rPr>
              <a:t>y</a:t>
            </a:r>
            <a:r>
              <a:rPr lang="zh-CN" altLang="en-US" b="1" spc="-5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/>
                <a:cs typeface="Courier New"/>
              </a:rPr>
              <a:t>盘子数</a:t>
            </a:r>
            <a:endParaRPr lang="zh-CN" altLang="en-US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b="1" spc="-10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设</a:t>
            </a:r>
            <a:r>
              <a:rPr lang="en-US" altLang="zh-CN" b="1" spc="-5" dirty="0" err="1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x</a:t>
            </a:r>
            <a:r>
              <a:rPr lang="zh-CN" altLang="en-US" b="1" spc="-10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个苹果放</a:t>
            </a:r>
            <a:r>
              <a:rPr lang="zh-CN" altLang="en-US" b="1" spc="-5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在</a:t>
            </a:r>
            <a:r>
              <a:rPr lang="en-US" altLang="zh-CN" b="1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y</a:t>
            </a:r>
            <a:r>
              <a:rPr lang="zh-CN" altLang="en-US" b="1" spc="-10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个盘子里放法总数</a:t>
            </a:r>
            <a:r>
              <a:rPr lang="zh-CN" altLang="en-US" b="1" spc="-5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是 </a:t>
            </a:r>
            <a:r>
              <a:rPr lang="en-US" altLang="zh-CN" b="1" spc="-5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f</a:t>
            </a:r>
            <a:r>
              <a:rPr lang="en-US" altLang="zh-CN" b="1" u="sng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(x , </a:t>
            </a:r>
            <a:r>
              <a:rPr lang="en-US" altLang="zh-CN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y</a:t>
            </a:r>
            <a:r>
              <a:rPr lang="en-US" altLang="zh-CN" b="1" u="sng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)</a:t>
            </a:r>
            <a:r>
              <a:rPr lang="zh-CN" altLang="en-US" b="1" spc="-5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，</a:t>
            </a:r>
            <a:r>
              <a:rPr lang="zh-CN" altLang="en-US" b="1" spc="-10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则：</a:t>
            </a:r>
            <a:endParaRPr lang="en-US" altLang="zh-CN" b="1" spc="-10" dirty="0">
              <a:latin typeface="等线" panose="02010600030101010101" pitchFamily="2" charset="-122"/>
              <a:ea typeface="等线" panose="02010600030101010101" pitchFamily="2" charset="-122"/>
              <a:cs typeface="微软雅黑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spc="-10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当苹果个数比盘子个数少时，即</a:t>
            </a:r>
            <a:r>
              <a:rPr lang="en-US" altLang="zh-CN" b="1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x</a:t>
            </a:r>
            <a:r>
              <a:rPr lang="en-US" altLang="zh-CN" b="1" spc="-5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 &lt; </a:t>
            </a:r>
            <a:r>
              <a:rPr lang="en-US" altLang="zh-CN" b="1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y</a:t>
            </a:r>
            <a:r>
              <a:rPr lang="en-US" altLang="zh-CN" b="1" spc="40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 </a:t>
            </a:r>
            <a:r>
              <a:rPr lang="zh-CN" altLang="en-US" b="1" spc="-5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时，</a:t>
            </a:r>
            <a:r>
              <a:rPr lang="en-US" altLang="zh-CN" b="1" spc="-5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f</a:t>
            </a:r>
            <a:r>
              <a:rPr lang="en-US" altLang="zh-CN" b="1" u="sng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(x , </a:t>
            </a:r>
            <a:r>
              <a:rPr lang="en-US" altLang="zh-CN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y</a:t>
            </a:r>
            <a:r>
              <a:rPr lang="en-US" altLang="zh-CN" b="1" u="sng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) </a:t>
            </a:r>
            <a:r>
              <a:rPr lang="en-US" altLang="zh-CN" b="1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==</a:t>
            </a:r>
            <a:r>
              <a:rPr lang="en-US" altLang="zh-CN" b="1" spc="3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 </a:t>
            </a:r>
            <a:r>
              <a:rPr lang="en-US" altLang="zh-CN" b="1" spc="-5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f</a:t>
            </a:r>
            <a:r>
              <a:rPr lang="en-US" altLang="zh-CN" b="1" spc="-1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(</a:t>
            </a:r>
            <a:r>
              <a:rPr lang="en-US" altLang="zh-CN" b="1" u="sng" spc="-1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x , x</a:t>
            </a:r>
            <a:r>
              <a:rPr lang="en-US" altLang="zh-CN" b="1" spc="-1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spc="-10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当苹果个数不少于盘子个数时，即</a:t>
            </a:r>
            <a:r>
              <a:rPr lang="en-US" altLang="zh-CN" b="1" spc="-1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x </a:t>
            </a:r>
            <a:r>
              <a:rPr lang="en-US" altLang="zh-CN" b="1" spc="-5" dirty="0"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&gt;=</a:t>
            </a:r>
            <a:r>
              <a:rPr lang="en-US" altLang="zh-CN" b="1" spc="-15" dirty="0"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 </a:t>
            </a:r>
            <a:r>
              <a:rPr lang="en-US" altLang="zh-CN" b="1" spc="-1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y</a:t>
            </a:r>
            <a:r>
              <a:rPr lang="en-US" altLang="zh-CN" b="1" spc="-5" dirty="0"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  </a:t>
            </a:r>
            <a:r>
              <a:rPr lang="zh-CN" altLang="en-US" b="1" spc="-5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时</a:t>
            </a:r>
            <a:r>
              <a:rPr lang="zh-CN" altLang="en-US" spc="-5" dirty="0"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，</a:t>
            </a:r>
            <a:endParaRPr lang="en-US" altLang="zh-CN" spc="-5" dirty="0">
              <a:latin typeface="等线" panose="02010600030101010101" pitchFamily="2" charset="-122"/>
              <a:ea typeface="等线" panose="02010600030101010101" pitchFamily="2" charset="-122"/>
              <a:cs typeface="微软雅黑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3900" b="1" u="sng" spc="-5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f(</a:t>
            </a:r>
            <a:r>
              <a:rPr lang="en-US" altLang="zh-CN" sz="3900" b="1" u="sng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x , y</a:t>
            </a:r>
            <a:r>
              <a:rPr lang="en-US" altLang="zh-CN" sz="3900" b="1" u="sng" spc="-5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)</a:t>
            </a:r>
            <a:r>
              <a:rPr lang="en-US" altLang="zh-CN" sz="3900" b="1" u="sng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 =  </a:t>
            </a:r>
            <a:r>
              <a:rPr lang="en-US" altLang="zh-CN" sz="3900" b="1" u="sng" spc="-5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f(</a:t>
            </a:r>
            <a:r>
              <a:rPr lang="en-US" altLang="zh-CN" sz="3900" b="1" u="sng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x , y-1</a:t>
            </a:r>
            <a:r>
              <a:rPr lang="en-US" altLang="zh-CN" sz="3900" b="1" u="sng" spc="-5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)</a:t>
            </a:r>
            <a:r>
              <a:rPr lang="en-US" altLang="zh-CN" sz="3900" b="1" u="sng" spc="-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             +</a:t>
            </a:r>
            <a:r>
              <a:rPr lang="en-US" altLang="zh-CN" sz="3900" b="1" u="sng" spc="65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   </a:t>
            </a:r>
            <a:r>
              <a:rPr lang="en-US" altLang="zh-CN" sz="3900" b="1" u="sng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f( </a:t>
            </a:r>
            <a:r>
              <a:rPr lang="en-US" altLang="zh-CN" sz="3900" b="1" u="sng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x-y , y</a:t>
            </a:r>
            <a:r>
              <a:rPr lang="en-US" altLang="zh-CN" sz="3900" b="1" u="sng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)</a:t>
            </a:r>
            <a:endParaRPr lang="en-US" altLang="zh-CN" sz="3900" b="1" u="sng" spc="-5" dirty="0">
              <a:latin typeface="等线" panose="02010600030101010101" pitchFamily="2" charset="-122"/>
              <a:ea typeface="等线" panose="02010600030101010101" pitchFamily="2" charset="-122"/>
              <a:cs typeface="微软雅黑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总放法</a:t>
            </a:r>
            <a:r>
              <a:rPr lang="zh-CN" altLang="en-US" b="1" u="sng" spc="-2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   </a:t>
            </a:r>
            <a:r>
              <a:rPr lang="en-US" altLang="zh-CN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=</a:t>
            </a:r>
            <a:r>
              <a:rPr lang="zh-CN" altLang="en-US" b="1" u="sng" spc="-1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  </a:t>
            </a:r>
            <a:r>
              <a:rPr lang="zh-CN" altLang="en-US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有一个空盘子的放法 </a:t>
            </a:r>
            <a:r>
              <a:rPr lang="en-US" altLang="zh-CN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Arial"/>
              </a:rPr>
              <a:t>+  </a:t>
            </a:r>
            <a:r>
              <a:rPr lang="zh-CN" altLang="en-US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没空盘子的</a:t>
            </a:r>
            <a:r>
              <a:rPr lang="zh-CN" altLang="en-US" b="1" u="sng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放</a:t>
            </a:r>
            <a:r>
              <a:rPr lang="zh-CN" altLang="en-US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法</a:t>
            </a:r>
            <a:r>
              <a:rPr lang="en-US" altLang="zh-CN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(</a:t>
            </a:r>
            <a:r>
              <a:rPr lang="zh-CN" altLang="en-US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都有一个苹果</a:t>
            </a:r>
            <a:r>
              <a:rPr lang="en-US" altLang="zh-CN" b="1" u="sng" spc="-5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微软雅黑"/>
              </a:rPr>
              <a:t>)</a:t>
            </a:r>
          </a:p>
          <a:p>
            <a:pPr marL="0" indent="0">
              <a:lnSpc>
                <a:spcPct val="120000"/>
              </a:lnSpc>
              <a:spcBef>
                <a:spcPts val="5"/>
              </a:spcBef>
              <a:buNone/>
            </a:pPr>
            <a:r>
              <a:rPr lang="zh-CN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边界条件：</a:t>
            </a:r>
            <a: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/>
            </a:r>
            <a:br>
              <a:rPr lang="en-US" altLang="zh-CN" sz="2800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零个苹果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x=0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，  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f(0,n)==1;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一种方案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——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全空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  <a:cs typeface="Courier New"/>
            </a:endParaRPr>
          </a:p>
          <a:p>
            <a:pPr marL="0" indent="0">
              <a:lnSpc>
                <a:spcPct val="120000"/>
              </a:lnSpc>
              <a:spcBef>
                <a:spcPts val="5"/>
              </a:spcBef>
              <a:buNone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没有盘子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y&lt;=0,   f(m,0)==0;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Courier New"/>
              </a:rPr>
              <a:t>无解</a:t>
            </a:r>
          </a:p>
        </p:txBody>
      </p:sp>
    </p:spTree>
    <p:extLst>
      <p:ext uri="{BB962C8B-B14F-4D97-AF65-F5344CB8AC3E}">
        <p14:creationId xmlns:p14="http://schemas.microsoft.com/office/powerpoint/2010/main" val="94966168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192" y="0"/>
            <a:ext cx="7336715" cy="683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675109"/>
      </p:ext>
    </p:extLst>
  </p:cSld>
  <p:clrMapOvr>
    <a:masterClrMapping/>
  </p:clrMapOvr>
  <p:transition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97192"/>
            <a:ext cx="9491500" cy="521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69276"/>
      </p:ext>
    </p:extLst>
  </p:cSld>
  <p:clrMapOvr>
    <a:masterClrMapping/>
  </p:clrMapOvr>
  <p:transition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672493" y="5507916"/>
            <a:ext cx="8341178" cy="892885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5400" dirty="0"/>
              <a:t>例题</a:t>
            </a:r>
            <a:r>
              <a:rPr lang="en-US" altLang="zh-CN" sz="5400" dirty="0"/>
              <a:t>3</a:t>
            </a:r>
            <a:r>
              <a:rPr lang="en-US" altLang="zh-CN" sz="5400" dirty="0">
                <a:latin typeface="Microsoft YaHei UI" panose="020B0503020204020204" pitchFamily="34" charset="-122"/>
              </a:rPr>
              <a:t>: </a:t>
            </a:r>
            <a:r>
              <a:rPr lang="zh-CN" altLang="en-US" sz="5400" dirty="0">
                <a:latin typeface="Microsoft YaHei UI" panose="020B0503020204020204" pitchFamily="34" charset="-122"/>
              </a:rPr>
              <a:t>求波兰表达式的值</a:t>
            </a:r>
            <a:endParaRPr lang="zh-CN" altLang="zh-CN" sz="5400" dirty="0">
              <a:latin typeface="Microsoft YaHei UI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949" y="579232"/>
            <a:ext cx="8120266" cy="47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530779"/>
      </p:ext>
    </p:extLst>
  </p:cSld>
  <p:clrMapOvr>
    <a:masterClrMapping/>
  </p:clrMapOvr>
  <p:transition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求波兰表达式的值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6379"/>
          <a:stretch/>
        </p:blipFill>
        <p:spPr>
          <a:xfrm>
            <a:off x="734455" y="1223865"/>
            <a:ext cx="8129627" cy="511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315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求波兰表达式的值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595" y="1438999"/>
            <a:ext cx="9803832" cy="473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36691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 dirty="0"/>
              <a:t>思路：数据结构与输入输出？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1" y="1447800"/>
            <a:ext cx="10935955" cy="2640106"/>
          </a:xfrm>
        </p:spPr>
        <p:txBody>
          <a:bodyPr/>
          <a:lstStyle/>
          <a:p>
            <a:r>
              <a:rPr lang="zh-CN" altLang="en-US" dirty="0"/>
              <a:t>输入：</a:t>
            </a:r>
            <a:r>
              <a:rPr lang="en-US" altLang="zh-CN" dirty="0"/>
              <a:t>string </a:t>
            </a:r>
            <a:r>
              <a:rPr lang="zh-CN" altLang="en-US" dirty="0"/>
              <a:t>类型 </a:t>
            </a:r>
            <a:endParaRPr lang="en-US" altLang="zh-CN" dirty="0"/>
          </a:p>
          <a:p>
            <a:r>
              <a:rPr lang="zh-CN" altLang="en-US" dirty="0"/>
              <a:t>输出：浮点型</a:t>
            </a:r>
            <a:endParaRPr lang="en-US" altLang="zh-CN" dirty="0"/>
          </a:p>
          <a:p>
            <a:r>
              <a:rPr lang="en-US" altLang="zh-CN" dirty="0"/>
              <a:t>C++11</a:t>
            </a:r>
            <a:r>
              <a:rPr lang="zh-CN" altLang="en-US" dirty="0"/>
              <a:t>提供以下两个函数：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645129" y="4473387"/>
            <a:ext cx="9404723" cy="824549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r>
              <a:rPr lang="zh-CN" altLang="en-US" sz="4000" b="1" dirty="0">
                <a:latin typeface="等线" panose="02010600030101010101" pitchFamily="2" charset="-122"/>
                <a:ea typeface="等线" panose="02010600030101010101" pitchFamily="2" charset="-122"/>
              </a:rPr>
              <a:t>整型浮点数转字符串</a:t>
            </a:r>
            <a:r>
              <a:rPr lang="en-US" altLang="zh-CN" sz="4000" b="1" dirty="0">
                <a:latin typeface="等线" panose="02010600030101010101" pitchFamily="2" charset="-122"/>
                <a:ea typeface="等线" panose="02010600030101010101" pitchFamily="2" charset="-122"/>
              </a:rPr>
              <a:t>:</a:t>
            </a:r>
            <a:r>
              <a:rPr lang="zh-CN" altLang="en-US" sz="4000" b="1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to_string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等线" panose="02010600030101010101" pitchFamily="2" charset="-122"/>
              </a:rPr>
              <a:t>( )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标题 1"/>
          <p:cNvSpPr txBox="1">
            <a:spLocks/>
          </p:cNvSpPr>
          <p:nvPr/>
        </p:nvSpPr>
        <p:spPr>
          <a:xfrm>
            <a:off x="653071" y="5489252"/>
            <a:ext cx="9404723" cy="824549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r>
              <a:rPr lang="zh-CN" altLang="en-US" sz="4000" b="1" dirty="0">
                <a:latin typeface="等线" panose="02010600030101010101" pitchFamily="2" charset="-122"/>
                <a:ea typeface="等线" panose="02010600030101010101" pitchFamily="2" charset="-122"/>
              </a:rPr>
              <a:t>字符串转浮点数：</a:t>
            </a:r>
            <a:r>
              <a:rPr lang="en-US" altLang="zh-CN" sz="4000" b="1" dirty="0" err="1">
                <a:latin typeface="等线" panose="02010600030101010101" pitchFamily="2" charset="-122"/>
                <a:ea typeface="等线" panose="02010600030101010101" pitchFamily="2" charset="-122"/>
              </a:rPr>
              <a:t>stof</a:t>
            </a:r>
            <a:r>
              <a:rPr lang="en-US" altLang="zh-CN" sz="4000" b="1" dirty="0">
                <a:latin typeface="等线" panose="02010600030101010101" pitchFamily="2" charset="-122"/>
                <a:ea typeface="等线" panose="02010600030101010101" pitchFamily="2" charset="-122"/>
              </a:rPr>
              <a:t>( )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02511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4" grpId="0" animBg="1"/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zh-CN" altLang="en-US" sz="4400" b="1" dirty="0">
                <a:latin typeface="微软雅黑"/>
                <a:cs typeface="微软雅黑"/>
              </a:rPr>
              <a:t>“波兰表达式</a:t>
            </a:r>
            <a:r>
              <a:rPr lang="en-US" altLang="zh-CN" sz="4400" b="1" dirty="0">
                <a:latin typeface="微软雅黑"/>
                <a:cs typeface="微软雅黑"/>
              </a:rPr>
              <a:t>P</a:t>
            </a:r>
            <a:r>
              <a:rPr lang="zh-CN" altLang="en-US" sz="4400" b="1" spc="-10" dirty="0">
                <a:latin typeface="微软雅黑"/>
                <a:cs typeface="微软雅黑"/>
              </a:rPr>
              <a:t>”</a:t>
            </a:r>
            <a:r>
              <a:rPr lang="zh-CN" altLang="en-US" sz="4400" b="1" dirty="0">
                <a:latin typeface="微软雅黑"/>
                <a:cs typeface="微软雅黑"/>
              </a:rPr>
              <a:t>的递归定</a:t>
            </a:r>
            <a:r>
              <a:rPr lang="zh-CN" altLang="en-US" sz="4400" b="1" spc="-10" dirty="0">
                <a:latin typeface="微软雅黑"/>
                <a:cs typeface="微软雅黑"/>
              </a:rPr>
              <a:t>义</a:t>
            </a:r>
            <a:r>
              <a:rPr lang="zh-CN" altLang="en-US" sz="4400" b="1" spc="5" dirty="0">
                <a:latin typeface="微软雅黑"/>
                <a:cs typeface="微软雅黑"/>
              </a:rPr>
              <a:t>：</a:t>
            </a:r>
            <a:endParaRPr lang="zh-CN" altLang="en-US" sz="4400" dirty="0">
              <a:latin typeface="微软雅黑"/>
              <a:cs typeface="微软雅黑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27685" indent="-515620">
              <a:lnSpc>
                <a:spcPct val="100000"/>
              </a:lnSpc>
              <a:spcBef>
                <a:spcPts val="5"/>
              </a:spcBef>
              <a:buFont typeface="+mj-lt"/>
              <a:buAutoNum type="arabicPeriod"/>
              <a:tabLst>
                <a:tab pos="527685" algn="l"/>
                <a:tab pos="528320" algn="l"/>
              </a:tabLst>
            </a:pPr>
            <a:r>
              <a:rPr lang="zh-CN" altLang="en-US" sz="3600" dirty="0">
                <a:latin typeface="微软雅黑"/>
                <a:cs typeface="微软雅黑"/>
              </a:rPr>
              <a:t>一个数是一个</a:t>
            </a:r>
            <a:r>
              <a:rPr lang="en-US" altLang="zh-CN" sz="3600" dirty="0">
                <a:latin typeface="微软雅黑"/>
                <a:cs typeface="微软雅黑"/>
              </a:rPr>
              <a:t>P</a:t>
            </a:r>
            <a:r>
              <a:rPr lang="zh-CN" altLang="en-US" sz="3600" dirty="0">
                <a:latin typeface="微软雅黑"/>
                <a:cs typeface="微软雅黑"/>
              </a:rPr>
              <a:t>，</a:t>
            </a:r>
            <a:r>
              <a:rPr lang="zh-CN" altLang="en-US" sz="3600" spc="-15" dirty="0">
                <a:latin typeface="微软雅黑"/>
                <a:cs typeface="微软雅黑"/>
              </a:rPr>
              <a:t>值</a:t>
            </a:r>
            <a:r>
              <a:rPr lang="zh-CN" altLang="en-US" sz="3600" dirty="0">
                <a:latin typeface="微软雅黑"/>
                <a:cs typeface="微软雅黑"/>
              </a:rPr>
              <a:t>为该数</a:t>
            </a:r>
          </a:p>
          <a:p>
            <a:pPr marL="527685" marR="66040" indent="-515620">
              <a:spcBef>
                <a:spcPts val="610"/>
              </a:spcBef>
              <a:buFont typeface="+mj-lt"/>
              <a:buAutoNum type="arabicPeriod"/>
              <a:tabLst>
                <a:tab pos="527685" algn="l"/>
                <a:tab pos="528320" algn="l"/>
                <a:tab pos="1859914" algn="l"/>
                <a:tab pos="4037965" algn="l"/>
                <a:tab pos="6360795" algn="l"/>
              </a:tabLst>
            </a:pPr>
            <a:r>
              <a:rPr lang="zh-CN" altLang="en-US" sz="3600" spc="5" dirty="0">
                <a:latin typeface="微软雅黑"/>
                <a:cs typeface="微软雅黑"/>
              </a:rPr>
              <a:t>一个表达式 </a:t>
            </a:r>
            <a:r>
              <a:rPr lang="en-US" altLang="zh-CN" sz="3600" b="1" spc="5" dirty="0">
                <a:latin typeface="微软雅黑"/>
                <a:cs typeface="微软雅黑"/>
              </a:rPr>
              <a:t>[</a:t>
            </a:r>
            <a:r>
              <a:rPr lang="zh-CN" altLang="en-US" sz="3600" b="1" dirty="0">
                <a:latin typeface="微软雅黑"/>
                <a:cs typeface="微软雅黑"/>
              </a:rPr>
              <a:t>运算符  </a:t>
            </a:r>
            <a:r>
              <a:rPr lang="en-US" altLang="zh-CN" sz="3600" b="1" dirty="0">
                <a:latin typeface="微软雅黑"/>
                <a:cs typeface="微软雅黑"/>
              </a:rPr>
              <a:t>p</a:t>
            </a:r>
            <a:r>
              <a:rPr lang="zh-CN" altLang="en-US" sz="3600" b="1" dirty="0">
                <a:latin typeface="微软雅黑"/>
                <a:cs typeface="微软雅黑"/>
              </a:rPr>
              <a:t>  </a:t>
            </a:r>
            <a:r>
              <a:rPr lang="en-US" altLang="zh-CN" sz="3600" b="1" dirty="0">
                <a:latin typeface="微软雅黑"/>
                <a:cs typeface="微软雅黑"/>
              </a:rPr>
              <a:t>p]</a:t>
            </a:r>
            <a:r>
              <a:rPr lang="en-US" altLang="zh-CN" sz="3600" dirty="0">
                <a:latin typeface="微软雅黑"/>
                <a:cs typeface="微软雅黑"/>
              </a:rPr>
              <a:t> </a:t>
            </a:r>
            <a:r>
              <a:rPr lang="zh-CN" altLang="en-US" sz="3600" dirty="0">
                <a:latin typeface="微软雅黑"/>
                <a:cs typeface="微软雅黑"/>
              </a:rPr>
              <a:t>是一个</a:t>
            </a:r>
            <a:r>
              <a:rPr lang="zh-CN" altLang="en-US" sz="3600" b="1" dirty="0">
                <a:latin typeface="微软雅黑"/>
                <a:cs typeface="微软雅黑"/>
              </a:rPr>
              <a:t>波兰表达式</a:t>
            </a:r>
            <a:r>
              <a:rPr lang="en-US" altLang="zh-CN" sz="3600" b="1" dirty="0">
                <a:latin typeface="微软雅黑"/>
                <a:cs typeface="微软雅黑"/>
              </a:rPr>
              <a:t>P</a:t>
            </a:r>
            <a:r>
              <a:rPr lang="zh-CN" altLang="en-US" sz="3600" dirty="0">
                <a:latin typeface="微软雅黑"/>
                <a:cs typeface="微软雅黑"/>
              </a:rPr>
              <a:t>，</a:t>
            </a:r>
            <a:r>
              <a:rPr lang="en-US" altLang="zh-CN" sz="3600" dirty="0">
                <a:latin typeface="微软雅黑"/>
                <a:cs typeface="微软雅黑"/>
              </a:rPr>
              <a:t/>
            </a:r>
            <a:br>
              <a:rPr lang="en-US" altLang="zh-CN" sz="3600" dirty="0">
                <a:latin typeface="微软雅黑"/>
                <a:cs typeface="微软雅黑"/>
              </a:rPr>
            </a:br>
            <a:r>
              <a:rPr lang="zh-CN" altLang="en-US" sz="3600" b="1" dirty="0">
                <a:latin typeface="微软雅黑"/>
                <a:cs typeface="微软雅黑"/>
              </a:rPr>
              <a:t>该表达式的值</a:t>
            </a:r>
            <a:r>
              <a:rPr lang="zh-CN" altLang="en-US" sz="3600" dirty="0">
                <a:latin typeface="微软雅黑"/>
                <a:cs typeface="微软雅黑"/>
              </a:rPr>
              <a:t>是两个</a:t>
            </a:r>
            <a:r>
              <a:rPr lang="en-US" altLang="zh-CN" sz="3600" dirty="0">
                <a:latin typeface="微软雅黑"/>
                <a:cs typeface="微软雅黑"/>
              </a:rPr>
              <a:t>P</a:t>
            </a:r>
            <a:r>
              <a:rPr lang="zh-CN" altLang="en-US" sz="3600" dirty="0">
                <a:latin typeface="微软雅黑"/>
                <a:cs typeface="微软雅黑"/>
              </a:rPr>
              <a:t>的值的</a:t>
            </a:r>
            <a:r>
              <a:rPr lang="zh-CN" altLang="en-US" sz="3600" spc="-15" dirty="0">
                <a:latin typeface="微软雅黑"/>
                <a:cs typeface="微软雅黑"/>
              </a:rPr>
              <a:t>运</a:t>
            </a:r>
            <a:r>
              <a:rPr lang="zh-CN" altLang="en-US" sz="3600" dirty="0">
                <a:latin typeface="微软雅黑"/>
                <a:cs typeface="微软雅黑"/>
              </a:rPr>
              <a:t>算</a:t>
            </a:r>
            <a:r>
              <a:rPr lang="zh-CN" altLang="en-US" sz="3600" spc="-15" dirty="0">
                <a:latin typeface="微软雅黑"/>
                <a:cs typeface="微软雅黑"/>
              </a:rPr>
              <a:t>结</a:t>
            </a:r>
            <a:r>
              <a:rPr lang="zh-CN" altLang="en-US" sz="3600" dirty="0">
                <a:latin typeface="微软雅黑"/>
                <a:cs typeface="微软雅黑"/>
              </a:rPr>
              <a:t>果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2610824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146" y="1163548"/>
            <a:ext cx="5034908" cy="553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48544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64919"/>
            <a:ext cx="9764829" cy="534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49947"/>
      </p:ext>
    </p:extLst>
  </p:cSld>
  <p:clrMapOvr>
    <a:masterClrMapping/>
  </p:clrMapOvr>
  <p:transition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069097" y="5449076"/>
            <a:ext cx="9342696" cy="901463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6000" dirty="0"/>
              <a:t>例题</a:t>
            </a:r>
            <a:r>
              <a:rPr lang="en-US" altLang="zh-CN" sz="6000" dirty="0"/>
              <a:t>4</a:t>
            </a:r>
            <a:r>
              <a:rPr lang="zh-CN" altLang="en-US" sz="6000" dirty="0">
                <a:latin typeface="Microsoft YaHei UI" panose="020B0503020204020204" pitchFamily="34" charset="-122"/>
              </a:rPr>
              <a:t>：</a:t>
            </a:r>
            <a:r>
              <a:rPr lang="en-US" altLang="zh-CN" sz="6000" dirty="0"/>
              <a:t>2</a:t>
            </a:r>
            <a:r>
              <a:rPr lang="zh-CN" altLang="en-US" sz="6000" dirty="0">
                <a:latin typeface="Microsoft YaHei UI" panose="020B0503020204020204" pitchFamily="34" charset="-122"/>
              </a:rPr>
              <a:t>的幂次方表示</a:t>
            </a:r>
            <a:endParaRPr lang="zh-CN" altLang="zh-CN" sz="6000" dirty="0">
              <a:latin typeface="Microsoft YaHei U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312" y="470630"/>
            <a:ext cx="8120266" cy="476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02621"/>
      </p:ext>
    </p:extLst>
  </p:cSld>
  <p:clrMapOvr>
    <a:masterClrMapping/>
  </p:clrMapOvr>
  <p:transition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递归定义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149220"/>
            <a:ext cx="6296501" cy="56172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r="30920" b="40613"/>
          <a:stretch/>
        </p:blipFill>
        <p:spPr>
          <a:xfrm>
            <a:off x="7103316" y="1866219"/>
            <a:ext cx="4447981" cy="162342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316" y="3740117"/>
            <a:ext cx="1714500" cy="10572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316" y="4982546"/>
            <a:ext cx="4409123" cy="157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994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217806"/>
          </a:xfrm>
        </p:spPr>
        <p:txBody>
          <a:bodyPr/>
          <a:lstStyle/>
          <a:p>
            <a:r>
              <a:rPr lang="zh-CN" altLang="en-US" sz="3600" dirty="0"/>
              <a:t>把输入数</a:t>
            </a:r>
            <a:r>
              <a:rPr lang="en-US" altLang="zh-CN" sz="3600" dirty="0"/>
              <a:t>n</a:t>
            </a:r>
            <a:r>
              <a:rPr lang="zh-CN" altLang="en-US" sz="3600" dirty="0"/>
              <a:t>转为二进制</a:t>
            </a:r>
            <a:r>
              <a:rPr lang="en-US" altLang="zh-CN" sz="3600" dirty="0"/>
              <a:t/>
            </a:r>
            <a:br>
              <a:rPr lang="en-US" altLang="zh-CN" sz="3600" dirty="0"/>
            </a:br>
            <a:r>
              <a:rPr lang="zh-CN" altLang="en-US" sz="3600" dirty="0"/>
              <a:t>设</a:t>
            </a:r>
            <a:r>
              <a:rPr lang="en-US" altLang="zh-CN" sz="3600" dirty="0" err="1"/>
              <a:t>i</a:t>
            </a:r>
            <a:r>
              <a:rPr lang="zh-CN" altLang="en-US" sz="3600" dirty="0"/>
              <a:t>表示</a:t>
            </a:r>
            <a:r>
              <a:rPr lang="en-US" altLang="zh-CN" sz="3600" dirty="0"/>
              <a:t>n</a:t>
            </a:r>
            <a:r>
              <a:rPr lang="zh-CN" altLang="en-US" sz="3600" dirty="0"/>
              <a:t>的第</a:t>
            </a:r>
            <a:r>
              <a:rPr lang="en-US" altLang="zh-CN" sz="3600" dirty="0" err="1"/>
              <a:t>i</a:t>
            </a:r>
            <a:r>
              <a:rPr lang="zh-CN" altLang="en-US" sz="3600" dirty="0"/>
              <a:t>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0" y="1698170"/>
            <a:ext cx="5505134" cy="29951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=1: f(00000001) = 1</a:t>
            </a:r>
            <a:r>
              <a:rPr lang="zh-CN" altLang="en-US" sz="2400" dirty="0">
                <a:solidFill>
                  <a:srgbClr val="FF0000"/>
                </a:solidFill>
              </a:rPr>
              <a:t>表示为 </a:t>
            </a:r>
            <a:r>
              <a:rPr lang="en-US" altLang="zh-CN" sz="2400" dirty="0">
                <a:solidFill>
                  <a:srgbClr val="FF0000"/>
                </a:solidFill>
              </a:rPr>
              <a:t>2(0)</a:t>
            </a:r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=2: f(00000010)=  </a:t>
            </a:r>
            <a:r>
              <a:rPr lang="zh-CN" altLang="en-US" sz="2400" dirty="0">
                <a:solidFill>
                  <a:srgbClr val="FF0000"/>
                </a:solidFill>
              </a:rPr>
              <a:t>表示为 </a:t>
            </a:r>
            <a:r>
              <a:rPr lang="en-US" altLang="zh-CN" sz="2400" dirty="0">
                <a:solidFill>
                  <a:srgbClr val="FF0000"/>
                </a:solidFill>
              </a:rPr>
              <a:t>2</a:t>
            </a:r>
          </a:p>
          <a:p>
            <a:pPr marL="0" indent="0">
              <a:buNone/>
            </a:pP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r>
              <a:rPr lang="en-US" altLang="zh-CN" sz="2400" dirty="0">
                <a:solidFill>
                  <a:srgbClr val="FF0000"/>
                </a:solidFill>
              </a:rPr>
              <a:t> =3 :f(00000011)= 2 + 2(0)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137</a:t>
            </a:r>
            <a:r>
              <a:rPr lang="zh-CN" altLang="en-US" sz="2400" dirty="0">
                <a:solidFill>
                  <a:srgbClr val="FF0000"/>
                </a:solidFill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</a:rPr>
              <a:t>1000 1001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en-US" altLang="zh-CN" sz="2400" dirty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endParaRPr lang="en-US" altLang="zh-CN" sz="2400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311" y="3867924"/>
            <a:ext cx="4748231" cy="2772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42910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488" y="237770"/>
            <a:ext cx="9761365" cy="824549"/>
          </a:xfrm>
        </p:spPr>
        <p:txBody>
          <a:bodyPr/>
          <a:lstStyle/>
          <a:p>
            <a:r>
              <a:rPr lang="zh-CN" altLang="en-US" dirty="0"/>
              <a:t>参考代码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 err="1"/>
              <a:t>bitset</a:t>
            </a:r>
            <a:r>
              <a:rPr lang="zh-CN" altLang="en-US" dirty="0"/>
              <a:t>与深搜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42" y="3260717"/>
            <a:ext cx="4390524" cy="2486940"/>
          </a:xfrm>
          <a:prstGeom prst="rect">
            <a:avLst/>
          </a:prstGeom>
        </p:spPr>
      </p:pic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8488" y="1224108"/>
            <a:ext cx="4397969" cy="174302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4"/>
          <a:srcRect b="54967"/>
          <a:stretch/>
        </p:blipFill>
        <p:spPr>
          <a:xfrm>
            <a:off x="4794379" y="1224108"/>
            <a:ext cx="7141428" cy="413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553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488" y="237770"/>
            <a:ext cx="9761365" cy="824549"/>
          </a:xfrm>
        </p:spPr>
        <p:txBody>
          <a:bodyPr/>
          <a:lstStyle/>
          <a:p>
            <a:r>
              <a:rPr lang="zh-CN" altLang="en-US" dirty="0"/>
              <a:t>参考代码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 err="1"/>
              <a:t>bitset</a:t>
            </a:r>
            <a:r>
              <a:rPr lang="zh-CN" altLang="en-US" dirty="0"/>
              <a:t>与深搜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41" b="55550"/>
          <a:stretch/>
        </p:blipFill>
        <p:spPr>
          <a:xfrm>
            <a:off x="288487" y="1230085"/>
            <a:ext cx="3294468" cy="1858410"/>
          </a:xfrm>
          <a:prstGeom prst="rect">
            <a:avLst/>
          </a:prstGeom>
        </p:spPr>
      </p:pic>
      <p:pic>
        <p:nvPicPr>
          <p:cNvPr id="9" name="内容占位符 6"/>
          <p:cNvPicPr>
            <a:picLocks noChangeAspect="1"/>
          </p:cNvPicPr>
          <p:nvPr/>
        </p:nvPicPr>
        <p:blipFill rotWithShape="1">
          <a:blip r:embed="rId2"/>
          <a:srcRect t="44163" b="-1"/>
          <a:stretch/>
        </p:blipFill>
        <p:spPr>
          <a:xfrm>
            <a:off x="3685489" y="1230085"/>
            <a:ext cx="7364118" cy="5282682"/>
          </a:xfrm>
          <a:prstGeom prst="rect">
            <a:avLst/>
          </a:prstGeom>
          <a:solidFill>
            <a:schemeClr val="accent1">
              <a:lumMod val="20000"/>
              <a:lumOff val="80000"/>
              <a:alpha val="4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171162088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335833"/>
            <a:ext cx="9604073" cy="528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3985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1167111" y="5505060"/>
            <a:ext cx="8667354" cy="839861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5400" dirty="0"/>
              <a:t>例题</a:t>
            </a:r>
            <a:r>
              <a:rPr lang="en-US" altLang="zh-CN" sz="5400" dirty="0"/>
              <a:t>5</a:t>
            </a:r>
            <a:r>
              <a:rPr lang="zh-CN" altLang="en-US" sz="5400" dirty="0">
                <a:latin typeface="Microsoft YaHei UI" panose="020B0503020204020204" pitchFamily="34" charset="-122"/>
              </a:rPr>
              <a:t>：快速幂</a:t>
            </a:r>
            <a:endParaRPr lang="zh-CN" altLang="zh-CN" sz="5400" dirty="0">
              <a:latin typeface="Microsoft YaHei UI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768" y="739547"/>
            <a:ext cx="8602040" cy="451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68687"/>
      </p:ext>
    </p:extLst>
  </p:cSld>
  <p:clrMapOvr>
    <a:masterClrMapping/>
  </p:clrMapOvr>
  <p:transition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快速幂</a:t>
            </a:r>
          </a:p>
        </p:txBody>
      </p:sp>
      <p:pic>
        <p:nvPicPr>
          <p:cNvPr id="8" name="内容占位符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24302"/>
            <a:ext cx="5737009" cy="55343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368" y="1224301"/>
            <a:ext cx="3165411" cy="262933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368" y="3966297"/>
            <a:ext cx="2577583" cy="279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54772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25047" y="508358"/>
            <a:ext cx="9404723" cy="2076222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模运算的公式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(a </a:t>
            </a:r>
            <a:r>
              <a:rPr lang="zh-CN" altLang="en-US" dirty="0"/>
              <a:t>* </a:t>
            </a:r>
            <a:r>
              <a:rPr lang="en-US" altLang="zh-CN" dirty="0"/>
              <a:t>b) % p = (a % p) * (b % p ) % p</a:t>
            </a:r>
            <a:endParaRPr lang="zh-CN" altLang="en-US" dirty="0"/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925046" y="2822350"/>
            <a:ext cx="9404723" cy="3718410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zh-CN" sz="4200" b="0" kern="1200">
                <a:solidFill>
                  <a:schemeClr val="tx2"/>
                </a:solidFill>
                <a:latin typeface="+mj-lt"/>
                <a:ea typeface="Microsoft YaHei UI" panose="020B0503020204020204" pitchFamily="34" charset="-122"/>
                <a:cs typeface="+mj-cs"/>
              </a:defRPr>
            </a:lvl1pPr>
            <a:lvl2pPr eaLnBrk="1" latinLnBrk="0" hangingPunct="1">
              <a:defRPr lang="zh-CN">
                <a:solidFill>
                  <a:schemeClr val="tx2"/>
                </a:solidFill>
              </a:defRPr>
            </a:lvl2pPr>
            <a:lvl3pPr eaLnBrk="1" latinLnBrk="0" hangingPunct="1">
              <a:defRPr lang="zh-CN">
                <a:solidFill>
                  <a:schemeClr val="tx2"/>
                </a:solidFill>
              </a:defRPr>
            </a:lvl3pPr>
            <a:lvl4pPr eaLnBrk="1" latinLnBrk="0" hangingPunct="1">
              <a:defRPr lang="zh-CN">
                <a:solidFill>
                  <a:schemeClr val="tx2"/>
                </a:solidFill>
              </a:defRPr>
            </a:lvl4pPr>
            <a:lvl5pPr eaLnBrk="1" latinLnBrk="0" hangingPunct="1">
              <a:defRPr lang="zh-CN">
                <a:solidFill>
                  <a:schemeClr val="tx2"/>
                </a:solidFill>
              </a:defRPr>
            </a:lvl5pPr>
            <a:lvl6pPr eaLnBrk="1" latinLnBrk="0" hangingPunct="1">
              <a:defRPr lang="zh-CN">
                <a:solidFill>
                  <a:schemeClr val="tx2"/>
                </a:solidFill>
              </a:defRPr>
            </a:lvl6pPr>
            <a:lvl7pPr eaLnBrk="1" latinLnBrk="0" hangingPunct="1">
              <a:defRPr lang="zh-CN">
                <a:solidFill>
                  <a:schemeClr val="tx2"/>
                </a:solidFill>
              </a:defRPr>
            </a:lvl7pPr>
            <a:lvl8pPr eaLnBrk="1" latinLnBrk="0" hangingPunct="1">
              <a:defRPr lang="zh-CN">
                <a:solidFill>
                  <a:schemeClr val="tx2"/>
                </a:solidFill>
              </a:defRPr>
            </a:lvl8pPr>
            <a:lvl9pPr eaLnBrk="1" latinLnBrk="0" hangingPunct="1">
              <a:defRPr lang="zh-CN">
                <a:solidFill>
                  <a:schemeClr val="tx2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dirty="0"/>
              <a:t>指数运算的公式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假设 </a:t>
            </a:r>
            <a:r>
              <a:rPr lang="en-US" altLang="zh-CN" dirty="0"/>
              <a:t>b = k1+ k2 + k3</a:t>
            </a:r>
            <a:r>
              <a:rPr lang="zh-CN" altLang="en-US" dirty="0"/>
              <a:t/>
            </a:r>
            <a:br>
              <a:rPr lang="zh-CN" altLang="en-US" dirty="0"/>
            </a:br>
            <a:r>
              <a:rPr lang="en-US" altLang="zh-CN" dirty="0"/>
              <a:t>a </a:t>
            </a:r>
            <a:r>
              <a:rPr lang="en-US" altLang="en-US" dirty="0"/>
              <a:t>^ </a:t>
            </a:r>
            <a:r>
              <a:rPr lang="en-US" altLang="zh-CN" dirty="0"/>
              <a:t>b= a ^(k1+k2+k3)</a:t>
            </a:r>
          </a:p>
          <a:p>
            <a:pPr algn="ctr">
              <a:lnSpc>
                <a:spcPct val="150000"/>
              </a:lnSpc>
            </a:pPr>
            <a:r>
              <a:rPr lang="en-US" altLang="en-US" dirty="0"/>
              <a:t>= a^k1 * a^k2 * a^k3</a:t>
            </a:r>
          </a:p>
        </p:txBody>
      </p:sp>
    </p:spTree>
    <p:extLst>
      <p:ext uri="{BB962C8B-B14F-4D97-AF65-F5344CB8AC3E}">
        <p14:creationId xmlns:p14="http://schemas.microsoft.com/office/powerpoint/2010/main" val="976044252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快速幂</a:t>
            </a:r>
            <a:r>
              <a:rPr lang="en-US" altLang="zh-CN" dirty="0" err="1"/>
              <a:t>qsm</a:t>
            </a:r>
            <a:r>
              <a:rPr lang="en-US" altLang="zh-CN" dirty="0"/>
              <a:t>(</a:t>
            </a:r>
            <a:r>
              <a:rPr lang="en-US" altLang="zh-CN" dirty="0" err="1"/>
              <a:t>a,b,p</a:t>
            </a:r>
            <a:r>
              <a:rPr lang="en-US" altLang="zh-CN" dirty="0"/>
              <a:t>) == </a:t>
            </a:r>
            <a:r>
              <a:rPr lang="en-US" altLang="zh-CN" dirty="0" err="1"/>
              <a:t>a^b</a:t>
            </a:r>
            <a:r>
              <a:rPr lang="en-US" altLang="zh-CN" dirty="0"/>
              <a:t> mod p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递归思路：</a:t>
            </a:r>
            <a:endParaRPr lang="en-US" altLang="zh-CN" sz="2800" dirty="0"/>
          </a:p>
          <a:p>
            <a:r>
              <a:rPr lang="zh-CN" altLang="en-US" sz="2800" dirty="0"/>
              <a:t>情况</a:t>
            </a:r>
            <a:r>
              <a:rPr lang="en-US" altLang="zh-CN" sz="2800" dirty="0"/>
              <a:t>1</a:t>
            </a:r>
            <a:r>
              <a:rPr lang="zh-CN" altLang="en-US" sz="2800" dirty="0"/>
              <a:t>： </a:t>
            </a:r>
            <a:r>
              <a:rPr lang="en-US" altLang="zh-CN" sz="2800" dirty="0"/>
              <a:t>b = 0, </a:t>
            </a:r>
            <a:r>
              <a:rPr lang="zh-CN" altLang="en-US" sz="2800" dirty="0"/>
              <a:t>则 </a:t>
            </a:r>
            <a:r>
              <a:rPr lang="en-US" altLang="zh-CN" sz="2800" dirty="0" err="1"/>
              <a:t>qsm</a:t>
            </a:r>
            <a:r>
              <a:rPr lang="en-US" altLang="zh-CN" sz="2800" dirty="0"/>
              <a:t>(a,0,p) = 1;</a:t>
            </a:r>
          </a:p>
          <a:p>
            <a:r>
              <a:rPr lang="zh-CN" altLang="en-US" sz="2800" dirty="0"/>
              <a:t>情况</a:t>
            </a:r>
            <a:r>
              <a:rPr lang="en-US" altLang="zh-CN" sz="2800" dirty="0"/>
              <a:t>2</a:t>
            </a:r>
            <a:r>
              <a:rPr lang="zh-CN" altLang="en-US" sz="2800" dirty="0"/>
              <a:t>： </a:t>
            </a:r>
            <a:r>
              <a:rPr lang="en-US" altLang="zh-CN" sz="2800" dirty="0"/>
              <a:t>b</a:t>
            </a:r>
            <a:r>
              <a:rPr lang="zh-CN" altLang="en-US" sz="2800" dirty="0"/>
              <a:t>为偶数，有</a:t>
            </a:r>
            <a:r>
              <a:rPr lang="en-US" altLang="zh-CN" sz="2800" dirty="0"/>
              <a:t>x^2=b </a:t>
            </a:r>
            <a:r>
              <a:rPr lang="zh-CN" altLang="en-US" sz="2800" dirty="0"/>
              <a:t>则</a:t>
            </a:r>
            <a:r>
              <a:rPr lang="en-US" altLang="zh-CN" sz="2800" b="1" dirty="0"/>
              <a:t> </a:t>
            </a:r>
            <a:br>
              <a:rPr lang="en-US" altLang="zh-CN" sz="2800" b="1" dirty="0"/>
            </a:br>
            <a:r>
              <a:rPr lang="en-US" altLang="zh-CN" sz="2800" b="1" dirty="0"/>
              <a:t>	</a:t>
            </a:r>
            <a:r>
              <a:rPr lang="en-US" altLang="zh-CN" sz="2800" b="1" dirty="0" err="1"/>
              <a:t>qsm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a,b,p</a:t>
            </a:r>
            <a:r>
              <a:rPr lang="en-US" altLang="zh-CN" sz="2800" b="1" dirty="0"/>
              <a:t>) = </a:t>
            </a:r>
            <a:r>
              <a:rPr lang="en-US" altLang="zh-CN" sz="2800" b="1" dirty="0" err="1"/>
              <a:t>qsm</a:t>
            </a:r>
            <a:r>
              <a:rPr lang="en-US" altLang="zh-CN" sz="2800" b="1" dirty="0"/>
              <a:t>(</a:t>
            </a:r>
            <a:r>
              <a:rPr lang="en-US" altLang="zh-CN" sz="2800" b="1" dirty="0" err="1"/>
              <a:t>a,x,p</a:t>
            </a:r>
            <a:r>
              <a:rPr lang="en-US" altLang="zh-CN" sz="2800" b="1" dirty="0"/>
              <a:t>) ^2 mod p</a:t>
            </a:r>
          </a:p>
          <a:p>
            <a:r>
              <a:rPr lang="zh-CN" altLang="en-US" sz="2800" dirty="0"/>
              <a:t>情况</a:t>
            </a:r>
            <a:r>
              <a:rPr lang="en-US" altLang="zh-CN" sz="2800" dirty="0"/>
              <a:t>3:    b</a:t>
            </a:r>
            <a:r>
              <a:rPr lang="zh-CN" altLang="en-US" sz="2800" dirty="0"/>
              <a:t>为奇数，则</a:t>
            </a:r>
            <a:r>
              <a:rPr lang="en-US" altLang="zh-CN" sz="2800" dirty="0"/>
              <a:t>b-1</a:t>
            </a:r>
            <a:r>
              <a:rPr lang="zh-CN" altLang="en-US" sz="2800" dirty="0"/>
              <a:t>为偶数，</a:t>
            </a:r>
            <a:r>
              <a:rPr lang="en-US" altLang="zh-CN" sz="2800" dirty="0"/>
              <a:t/>
            </a:r>
            <a:br>
              <a:rPr lang="en-US" altLang="zh-CN" sz="2800" dirty="0"/>
            </a:br>
            <a:r>
              <a:rPr lang="zh-CN" altLang="en-US" sz="2800" dirty="0"/>
              <a:t>问题转换为求 </a:t>
            </a:r>
            <a:r>
              <a:rPr lang="en-US" altLang="zh-CN" sz="2800" b="1" dirty="0"/>
              <a:t>a *</a:t>
            </a:r>
            <a:r>
              <a:rPr lang="en-US" altLang="zh-CN" sz="2800" b="1" dirty="0" err="1"/>
              <a:t>qsm</a:t>
            </a:r>
            <a:r>
              <a:rPr lang="en-US" altLang="zh-CN" sz="2800" b="1" dirty="0"/>
              <a:t>(a,b-1,p) mod p</a:t>
            </a:r>
          </a:p>
        </p:txBody>
      </p:sp>
    </p:spTree>
    <p:extLst>
      <p:ext uri="{BB962C8B-B14F-4D97-AF65-F5344CB8AC3E}">
        <p14:creationId xmlns:p14="http://schemas.microsoft.com/office/powerpoint/2010/main" val="1482425409"/>
      </p:ext>
    </p:extLst>
  </p:cSld>
  <p:clrMapOvr>
    <a:masterClrMapping/>
  </p:clrMapOvr>
  <p:transition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递归解法参考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25238"/>
          <a:stretch/>
        </p:blipFill>
        <p:spPr>
          <a:xfrm>
            <a:off x="199884" y="1415234"/>
            <a:ext cx="3940283" cy="75475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r="19335"/>
          <a:stretch/>
        </p:blipFill>
        <p:spPr>
          <a:xfrm>
            <a:off x="199884" y="2410936"/>
            <a:ext cx="3814903" cy="268646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4"/>
          <a:srcRect t="1821"/>
          <a:stretch/>
        </p:blipFill>
        <p:spPr>
          <a:xfrm>
            <a:off x="4297329" y="1415234"/>
            <a:ext cx="7161897" cy="481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662211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562582"/>
            <a:ext cx="10250753" cy="419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548485"/>
      </p:ext>
    </p:extLst>
  </p:cSld>
  <p:clrMapOvr>
    <a:masterClrMapping/>
  </p:clrMapOvr>
  <p:transition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迭代思路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3071" y="1447800"/>
            <a:ext cx="10077133" cy="4890370"/>
          </a:xfrm>
        </p:spPr>
        <p:txBody>
          <a:bodyPr/>
          <a:lstStyle/>
          <a:p>
            <a:r>
              <a:rPr lang="zh-CN" altLang="en-US" dirty="0"/>
              <a:t>把</a:t>
            </a:r>
            <a:r>
              <a:rPr lang="en-US" altLang="zh-CN" dirty="0"/>
              <a:t>b</a:t>
            </a:r>
            <a:r>
              <a:rPr lang="zh-CN" altLang="en-US" dirty="0"/>
              <a:t>展开为二进制数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 则</a:t>
            </a:r>
            <a:endParaRPr lang="en-US" altLang="zh-CN" dirty="0"/>
          </a:p>
          <a:p>
            <a:r>
              <a:rPr lang="zh-CN" altLang="en-US" dirty="0"/>
              <a:t>有 </a:t>
            </a:r>
            <a:endParaRPr lang="en-US" altLang="zh-CN" dirty="0"/>
          </a:p>
          <a:p>
            <a:r>
              <a:rPr lang="zh-CN" altLang="en-US" dirty="0"/>
              <a:t>可以用循环迭代求解！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46" y="2267727"/>
            <a:ext cx="9654569" cy="7273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099" y="3228294"/>
            <a:ext cx="7077075" cy="9239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4118" y="4289576"/>
            <a:ext cx="7975735" cy="955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664126"/>
      </p:ext>
    </p:extLst>
  </p:cSld>
  <p:clrMapOvr>
    <a:masterClrMapping/>
  </p:clrMapOvr>
  <p:transition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/>
              <a:t>https://www.acwing.com/blog/content/24/</a:t>
            </a:r>
            <a:endParaRPr lang="zh-CN" altLang="en-US" sz="32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068" y="1136963"/>
            <a:ext cx="7162687" cy="56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2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迭代参考代码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162" y="1278828"/>
            <a:ext cx="8123580" cy="534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79268"/>
      </p:ext>
    </p:extLst>
  </p:cSld>
  <p:clrMapOvr>
    <a:masterClrMapping/>
  </p:clrMapOvr>
  <p:transition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835" y="1660874"/>
            <a:ext cx="10901060" cy="441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864073"/>
      </p:ext>
    </p:extLst>
  </p:cSld>
  <p:clrMapOvr>
    <a:masterClrMapping/>
  </p:clrMapOvr>
  <p:transition>
    <p:push dir="u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2095596" y="5514392"/>
            <a:ext cx="7534275" cy="1026474"/>
          </a:xfrm>
          <a:solidFill>
            <a:schemeClr val="accent4">
              <a:lumMod val="75000"/>
            </a:schemeClr>
          </a:solidFill>
        </p:spPr>
        <p:txBody>
          <a:bodyPr/>
          <a:lstStyle/>
          <a:p>
            <a:pPr lvl="0" algn="ctr"/>
            <a:r>
              <a:rPr lang="zh-CN" altLang="en-US" sz="5400" dirty="0"/>
              <a:t>例题</a:t>
            </a:r>
            <a:r>
              <a:rPr lang="en-US" altLang="zh-CN" sz="5400" dirty="0"/>
              <a:t>6</a:t>
            </a:r>
            <a:r>
              <a:rPr lang="zh-CN" altLang="en-US" sz="5400" dirty="0">
                <a:latin typeface="Microsoft YaHei UI" panose="020B0503020204020204" pitchFamily="34" charset="-122"/>
              </a:rPr>
              <a:t>：算</a:t>
            </a:r>
            <a:r>
              <a:rPr lang="en-US" altLang="zh-CN" sz="5400" dirty="0">
                <a:latin typeface="Microsoft YaHei UI" panose="020B0503020204020204" pitchFamily="34" charset="-122"/>
              </a:rPr>
              <a:t>24</a:t>
            </a:r>
            <a:endParaRPr lang="zh-CN" altLang="zh-CN" sz="5400" dirty="0">
              <a:latin typeface="Microsoft YaHei UI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96" y="953181"/>
            <a:ext cx="753427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7750"/>
      </p:ext>
    </p:extLst>
  </p:cSld>
  <p:clrMapOvr>
    <a:masterClrMapping/>
  </p:clrMapOvr>
  <p:transition>
    <p:push dir="u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</a:t>
            </a:r>
            <a:r>
              <a:rPr lang="en-US" altLang="zh-CN" dirty="0"/>
              <a:t>24</a:t>
            </a:r>
            <a:endParaRPr lang="zh-CN" altLang="en-US" dirty="0"/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30" y="1260264"/>
            <a:ext cx="10487579" cy="265859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0" y="4116802"/>
            <a:ext cx="8603979" cy="2433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655577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65383" y="4450541"/>
            <a:ext cx="9404723" cy="1525716"/>
          </a:xfrm>
        </p:spPr>
        <p:txBody>
          <a:bodyPr/>
          <a:lstStyle/>
          <a:p>
            <a:r>
              <a:rPr lang="en-US" altLang="zh-CN" sz="4400" dirty="0">
                <a:latin typeface="微软雅黑"/>
                <a:cs typeface="微软雅黑"/>
              </a:rPr>
              <a:t>5</a:t>
            </a:r>
            <a:r>
              <a:rPr lang="zh-CN" altLang="en-US" sz="4400" spc="25" dirty="0">
                <a:latin typeface="微软雅黑"/>
                <a:cs typeface="微软雅黑"/>
              </a:rPr>
              <a:t> </a:t>
            </a:r>
            <a:r>
              <a:rPr lang="zh-CN" altLang="en-US" sz="4400" dirty="0">
                <a:latin typeface="微软雅黑"/>
                <a:cs typeface="微软雅黑"/>
              </a:rPr>
              <a:t>*</a:t>
            </a:r>
            <a:r>
              <a:rPr lang="zh-CN" altLang="en-US" sz="4400" spc="-10" dirty="0">
                <a:latin typeface="微软雅黑"/>
                <a:cs typeface="微软雅黑"/>
              </a:rPr>
              <a:t> </a:t>
            </a:r>
            <a:r>
              <a:rPr lang="en-US" altLang="zh-CN" sz="4400" dirty="0">
                <a:latin typeface="微软雅黑"/>
                <a:cs typeface="微软雅黑"/>
              </a:rPr>
              <a:t>(5 –</a:t>
            </a:r>
            <a:r>
              <a:rPr lang="zh-CN" altLang="en-US" sz="4400" spc="-10" dirty="0">
                <a:latin typeface="微软雅黑"/>
                <a:cs typeface="微软雅黑"/>
              </a:rPr>
              <a:t> </a:t>
            </a:r>
            <a:r>
              <a:rPr lang="en-US" altLang="zh-CN" sz="4400" dirty="0">
                <a:latin typeface="微软雅黑"/>
                <a:cs typeface="微软雅黑"/>
              </a:rPr>
              <a:t>1</a:t>
            </a:r>
            <a:r>
              <a:rPr lang="zh-CN" altLang="en-US" sz="4400" spc="-15" dirty="0">
                <a:latin typeface="微软雅黑"/>
                <a:cs typeface="微软雅黑"/>
              </a:rPr>
              <a:t> </a:t>
            </a:r>
            <a:r>
              <a:rPr lang="en-US" altLang="zh-CN" sz="4400" dirty="0">
                <a:latin typeface="微软雅黑"/>
                <a:cs typeface="微软雅黑"/>
              </a:rPr>
              <a:t>/ </a:t>
            </a:r>
            <a:r>
              <a:rPr lang="en-US" altLang="zh-CN" sz="4400" spc="-5" dirty="0">
                <a:latin typeface="微软雅黑"/>
                <a:cs typeface="微软雅黑"/>
              </a:rPr>
              <a:t>5) </a:t>
            </a:r>
            <a:r>
              <a:rPr lang="en-US" altLang="zh-CN" sz="4400" dirty="0">
                <a:latin typeface="微软雅黑"/>
                <a:cs typeface="微软雅黑"/>
              </a:rPr>
              <a:t>=</a:t>
            </a:r>
            <a:r>
              <a:rPr lang="zh-CN" altLang="en-US" sz="4400" spc="-5" dirty="0">
                <a:latin typeface="微软雅黑"/>
                <a:cs typeface="微软雅黑"/>
              </a:rPr>
              <a:t> </a:t>
            </a:r>
            <a:r>
              <a:rPr lang="en-US" altLang="zh-CN" sz="4400" spc="-5" dirty="0">
                <a:latin typeface="微软雅黑"/>
                <a:cs typeface="微软雅黑"/>
              </a:rPr>
              <a:t>24</a:t>
            </a:r>
            <a:br>
              <a:rPr lang="en-US" altLang="zh-CN" sz="4400" spc="-5" dirty="0">
                <a:latin typeface="微软雅黑"/>
                <a:cs typeface="微软雅黑"/>
              </a:rPr>
            </a:br>
            <a:r>
              <a:rPr lang="en-US" altLang="zh-CN" sz="4400" spc="-5" dirty="0">
                <a:latin typeface="微软雅黑"/>
                <a:cs typeface="微软雅黑"/>
              </a:rPr>
              <a:t>1 1 4 2 </a:t>
            </a:r>
            <a:r>
              <a:rPr lang="zh-CN" altLang="en-US" sz="4400" spc="-5" dirty="0">
                <a:latin typeface="微软雅黑"/>
                <a:cs typeface="微软雅黑"/>
              </a:rPr>
              <a:t>无解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29" y="773224"/>
            <a:ext cx="9845233" cy="322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252452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题解：枚举分析、递归实现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R="5080">
              <a:spcBef>
                <a:spcPts val="105"/>
              </a:spcBef>
              <a:buFont typeface="Wingdings" panose="05000000000000000000" pitchFamily="2" charset="2"/>
              <a:buChar char="n"/>
            </a:pPr>
            <a:r>
              <a:rPr lang="en-US" altLang="zh-CN" dirty="0"/>
              <a:t>n</a:t>
            </a:r>
            <a:r>
              <a:rPr lang="zh-CN" altLang="en-US" dirty="0"/>
              <a:t>个数算</a:t>
            </a:r>
            <a:r>
              <a:rPr lang="en-US" altLang="zh-CN" dirty="0"/>
              <a:t>24</a:t>
            </a:r>
            <a:r>
              <a:rPr lang="zh-CN" altLang="en-US" dirty="0"/>
              <a:t>，必有两个数要先算。</a:t>
            </a:r>
          </a:p>
          <a:p>
            <a:pPr marR="5080">
              <a:spcBef>
                <a:spcPts val="105"/>
              </a:spcBef>
              <a:buFont typeface="Wingdings" panose="05000000000000000000" pitchFamily="2" charset="2"/>
              <a:buChar char="n"/>
            </a:pPr>
            <a:r>
              <a:rPr lang="zh-CN" altLang="en-US" dirty="0"/>
              <a:t>这两个数算的结果，和剩余</a:t>
            </a:r>
            <a:r>
              <a:rPr lang="en-US" altLang="zh-CN" dirty="0"/>
              <a:t>n-2</a:t>
            </a:r>
            <a:r>
              <a:rPr lang="zh-CN" altLang="en-US" dirty="0"/>
              <a:t>个数，就 构成了</a:t>
            </a:r>
            <a:r>
              <a:rPr lang="en-US" altLang="zh-CN" dirty="0"/>
              <a:t>n-1</a:t>
            </a:r>
            <a:r>
              <a:rPr lang="zh-CN" altLang="en-US" dirty="0"/>
              <a:t>个数求</a:t>
            </a:r>
            <a:r>
              <a:rPr lang="en-US" altLang="zh-CN" dirty="0"/>
              <a:t>24</a:t>
            </a:r>
            <a:r>
              <a:rPr lang="zh-CN" altLang="en-US" dirty="0"/>
              <a:t>的问题</a:t>
            </a:r>
            <a:endParaRPr lang="en-US" altLang="zh-CN" dirty="0"/>
          </a:p>
          <a:p>
            <a:pPr marR="5080">
              <a:spcBef>
                <a:spcPts val="105"/>
              </a:spcBef>
              <a:buFont typeface="Wingdings" panose="05000000000000000000" pitchFamily="2" charset="2"/>
              <a:buChar char="n"/>
            </a:pPr>
            <a:r>
              <a:rPr lang="zh-CN" altLang="en-US" dirty="0"/>
              <a:t>因此，将“</a:t>
            </a:r>
            <a:r>
              <a:rPr lang="en-US" altLang="zh-CN" dirty="0"/>
              <a:t>4</a:t>
            </a:r>
            <a:r>
              <a:rPr lang="zh-CN" altLang="en-US" dirty="0"/>
              <a:t>个数算</a:t>
            </a:r>
            <a:r>
              <a:rPr lang="en-US" altLang="zh-CN" dirty="0"/>
              <a:t>24</a:t>
            </a:r>
            <a:r>
              <a:rPr lang="zh-CN" altLang="en-US" dirty="0"/>
              <a:t>点”转换为规模较小的“</a:t>
            </a:r>
            <a:r>
              <a:rPr lang="en-US" altLang="zh-CN" dirty="0"/>
              <a:t>3</a:t>
            </a:r>
            <a:r>
              <a:rPr lang="zh-CN" altLang="en-US" dirty="0"/>
              <a:t>个数算</a:t>
            </a:r>
            <a:r>
              <a:rPr lang="en-US" altLang="zh-CN" dirty="0"/>
              <a:t>24</a:t>
            </a:r>
            <a:r>
              <a:rPr lang="zh-CN" altLang="en-US" dirty="0"/>
              <a:t>点”，再转换为规模较小的“</a:t>
            </a:r>
            <a:r>
              <a:rPr lang="en-US" altLang="zh-CN" dirty="0"/>
              <a:t>2</a:t>
            </a:r>
            <a:r>
              <a:rPr lang="zh-CN" altLang="en-US" dirty="0"/>
              <a:t>个数算</a:t>
            </a:r>
            <a:r>
              <a:rPr lang="en-US" altLang="zh-CN" dirty="0"/>
              <a:t>24</a:t>
            </a:r>
            <a:r>
              <a:rPr lang="zh-CN" altLang="en-US" dirty="0"/>
              <a:t>点”，最后转换为“</a:t>
            </a:r>
            <a:r>
              <a:rPr lang="en-US" altLang="zh-CN" dirty="0"/>
              <a:t>1</a:t>
            </a:r>
            <a:r>
              <a:rPr lang="zh-CN" altLang="en-US" dirty="0"/>
              <a:t>个数算</a:t>
            </a:r>
            <a:r>
              <a:rPr lang="en-US" altLang="zh-CN" dirty="0"/>
              <a:t>24</a:t>
            </a:r>
            <a:r>
              <a:rPr lang="zh-CN" altLang="en-US" dirty="0"/>
              <a:t>点”。</a:t>
            </a:r>
            <a:endParaRPr lang="en-US" altLang="zh-CN" dirty="0"/>
          </a:p>
          <a:p>
            <a:pPr marR="5080">
              <a:spcBef>
                <a:spcPts val="105"/>
              </a:spcBef>
              <a:buFont typeface="Wingdings" panose="05000000000000000000" pitchFamily="2" charset="2"/>
              <a:buChar char="n"/>
            </a:pPr>
            <a:r>
              <a:rPr lang="zh-CN" altLang="en-US" dirty="0"/>
              <a:t>解法：</a:t>
            </a:r>
            <a:r>
              <a:rPr lang="zh-CN" altLang="en-US" b="1" dirty="0"/>
              <a:t>把原问题</a:t>
            </a:r>
            <a:r>
              <a:rPr lang="en-US" altLang="zh-CN" b="1" dirty="0"/>
              <a:t>n</a:t>
            </a:r>
            <a:r>
              <a:rPr lang="zh-CN" altLang="en-US" b="1" dirty="0"/>
              <a:t>个数中的任意两个数通过</a:t>
            </a:r>
            <a:r>
              <a:rPr lang="en-US" altLang="zh-CN" b="1" dirty="0"/>
              <a:t>4</a:t>
            </a:r>
            <a:r>
              <a:rPr lang="zh-CN" altLang="en-US" b="1" dirty="0"/>
              <a:t>种运算符得到一个新数</a:t>
            </a:r>
            <a:r>
              <a:rPr lang="zh-CN" altLang="en-US" dirty="0"/>
              <a:t>，再把其并入剩下的</a:t>
            </a:r>
            <a:r>
              <a:rPr lang="en-US" altLang="zh-CN" dirty="0"/>
              <a:t>n-2</a:t>
            </a:r>
            <a:r>
              <a:rPr lang="zh-CN" altLang="en-US" dirty="0"/>
              <a:t>个数中计算。问题变成求解</a:t>
            </a:r>
            <a:r>
              <a:rPr lang="en-US" altLang="zh-CN" dirty="0"/>
              <a:t>n-1</a:t>
            </a:r>
            <a:r>
              <a:rPr lang="zh-CN" altLang="en-US" dirty="0"/>
              <a:t>个数的算</a:t>
            </a:r>
            <a:r>
              <a:rPr lang="en-US" altLang="zh-CN" dirty="0"/>
              <a:t>24</a:t>
            </a:r>
            <a:r>
              <a:rPr lang="zh-CN" altLang="en-US" dirty="0"/>
              <a:t>点问题。</a:t>
            </a:r>
            <a:endParaRPr lang="en-US" altLang="zh-CN" dirty="0"/>
          </a:p>
          <a:p>
            <a:pPr marR="5080">
              <a:spcBef>
                <a:spcPts val="105"/>
              </a:spcBef>
              <a:buFont typeface="Wingdings" panose="05000000000000000000" pitchFamily="2" charset="2"/>
              <a:buChar char="n"/>
            </a:pPr>
            <a:r>
              <a:rPr lang="zh-CN" altLang="en-US" dirty="0"/>
              <a:t>边界条件：最后只剩一个数</a:t>
            </a:r>
          </a:p>
        </p:txBody>
      </p:sp>
    </p:spTree>
    <p:extLst>
      <p:ext uri="{BB962C8B-B14F-4D97-AF65-F5344CB8AC3E}">
        <p14:creationId xmlns:p14="http://schemas.microsoft.com/office/powerpoint/2010/main" val="406338999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/>
              <a:t>count24</a:t>
            </a:r>
            <a:r>
              <a:rPr lang="zh-CN" altLang="en-US" dirty="0"/>
              <a:t>函数输出题目要求</a:t>
            </a: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129" y="3192731"/>
            <a:ext cx="8076519" cy="328271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29" y="1213271"/>
            <a:ext cx="4113483" cy="167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868294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215" y="1379909"/>
            <a:ext cx="8358463" cy="534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10945"/>
      </p:ext>
    </p:extLst>
  </p:cSld>
  <p:clrMapOvr>
    <a:masterClrMapping/>
  </p:clrMapOvr>
  <p:transition>
    <p:push dir="u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solidFill>
            <a:srgbClr val="00B050"/>
          </a:solidFill>
        </p:spPr>
        <p:txBody>
          <a:bodyPr/>
          <a:lstStyle/>
          <a:p>
            <a:pPr algn="ctr"/>
            <a:r>
              <a:rPr lang="en-US" altLang="zh-CN" dirty="0"/>
              <a:t>Accept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654" y="1261188"/>
            <a:ext cx="8525673" cy="541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03206"/>
      </p:ext>
    </p:extLst>
  </p:cSld>
  <p:clrMapOvr>
    <a:masterClrMapping/>
  </p:clrMapOvr>
  <p:transition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5130" y="237770"/>
            <a:ext cx="9404723" cy="1367095"/>
          </a:xfrm>
        </p:spPr>
        <p:txBody>
          <a:bodyPr/>
          <a:lstStyle/>
          <a:p>
            <a:r>
              <a:rPr lang="zh-CN" altLang="en-US" dirty="0"/>
              <a:t>第四周     </a:t>
            </a:r>
            <a:r>
              <a:rPr lang="en-US" altLang="zh-CN" dirty="0"/>
              <a:t>C++</a:t>
            </a:r>
            <a:r>
              <a:rPr lang="zh-CN" altLang="en-US" dirty="0"/>
              <a:t>例题试炼一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截止日期</a:t>
            </a:r>
            <a:r>
              <a:rPr lang="en-US" altLang="zh-CN" dirty="0"/>
              <a:t>: 2021</a:t>
            </a:r>
            <a:r>
              <a:rPr lang="zh-CN" altLang="en-US" dirty="0"/>
              <a:t>年</a:t>
            </a:r>
            <a:r>
              <a:rPr lang="en-US" altLang="zh-CN" dirty="0"/>
              <a:t>4</a:t>
            </a:r>
            <a:r>
              <a:rPr lang="zh-CN" altLang="en-US" dirty="0"/>
              <a:t>月</a:t>
            </a:r>
            <a:r>
              <a:rPr lang="en-US" altLang="zh-CN" dirty="0"/>
              <a:t>17</a:t>
            </a:r>
            <a:r>
              <a:rPr lang="zh-CN" altLang="en-US" dirty="0"/>
              <a:t>日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187" y="2016724"/>
            <a:ext cx="10035252" cy="392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1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Ion Red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AE901BC-D190-49E6-8B33-2F32A0F2BF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教学课程概述</Template>
  <TotalTime>0</TotalTime>
  <Words>733</Words>
  <Application>Microsoft Office PowerPoint</Application>
  <PresentationFormat>宽屏</PresentationFormat>
  <Paragraphs>104</Paragraphs>
  <Slides>49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0" baseType="lpstr">
      <vt:lpstr>Microsoft YaHei UI</vt:lpstr>
      <vt:lpstr>等线</vt:lpstr>
      <vt:lpstr>宋体</vt:lpstr>
      <vt:lpstr>微软雅黑</vt:lpstr>
      <vt:lpstr>Arial</vt:lpstr>
      <vt:lpstr>Calibri</vt:lpstr>
      <vt:lpstr>Century Gothic</vt:lpstr>
      <vt:lpstr>Courier New</vt:lpstr>
      <vt:lpstr>Wingdings</vt:lpstr>
      <vt:lpstr>Wingdings 3</vt:lpstr>
      <vt:lpstr>离子</vt:lpstr>
      <vt:lpstr>PowerPoint 演示文稿</vt:lpstr>
      <vt:lpstr>递归II</vt:lpstr>
      <vt:lpstr>例题1：爬天梯</vt:lpstr>
      <vt:lpstr>爬天梯</vt:lpstr>
      <vt:lpstr>边界分析</vt:lpstr>
      <vt:lpstr>题解：用递归缩小问题空间</vt:lpstr>
      <vt:lpstr>思路直接转换为代码</vt:lpstr>
      <vt:lpstr>若n很大，为了避免整数溢出,计算过程中要取取模，也就是求 a%p 的值。 模可以使用质数 p = 10^9+7 = 1000000007</vt:lpstr>
      <vt:lpstr>前十组Accept</vt:lpstr>
      <vt:lpstr>后十组 运行超时</vt:lpstr>
      <vt:lpstr>如何优化？</vt:lpstr>
      <vt:lpstr>记忆化搜索</vt:lpstr>
      <vt:lpstr>Accept</vt:lpstr>
      <vt:lpstr>例题2：放苹果</vt:lpstr>
      <vt:lpstr>放苹果</vt:lpstr>
      <vt:lpstr>分析f(x,y):x苹果数，y盘子数</vt:lpstr>
      <vt:lpstr>PowerPoint 演示文稿</vt:lpstr>
      <vt:lpstr>Accept</vt:lpstr>
      <vt:lpstr>例题3: 求波兰表达式的值</vt:lpstr>
      <vt:lpstr>求波兰表达式的值</vt:lpstr>
      <vt:lpstr>求波兰表达式的值</vt:lpstr>
      <vt:lpstr>思路：数据结构与输入输出？</vt:lpstr>
      <vt:lpstr>“波兰表达式P”的递归定义：</vt:lpstr>
      <vt:lpstr>参考代码</vt:lpstr>
      <vt:lpstr>Accept </vt:lpstr>
      <vt:lpstr>例题4：2的幂次方表示</vt:lpstr>
      <vt:lpstr>递归定义</vt:lpstr>
      <vt:lpstr>把输入数n转为二进制 设i表示n的第i位</vt:lpstr>
      <vt:lpstr>参考代码(使用bitset与深搜)</vt:lpstr>
      <vt:lpstr>参考代码(使用bitset与深搜)</vt:lpstr>
      <vt:lpstr>Accept</vt:lpstr>
      <vt:lpstr>例题5：快速幂</vt:lpstr>
      <vt:lpstr>快速幂</vt:lpstr>
      <vt:lpstr>模运算的公式 (a * b) % p = (a % p) * (b % p ) % p</vt:lpstr>
      <vt:lpstr>快速幂qsm(a,b,p) == a^b mod p </vt:lpstr>
      <vt:lpstr>递归解法参考</vt:lpstr>
      <vt:lpstr>Accept</vt:lpstr>
      <vt:lpstr>迭代思路</vt:lpstr>
      <vt:lpstr>https://www.acwing.com/blog/content/24/</vt:lpstr>
      <vt:lpstr>迭代参考代码</vt:lpstr>
      <vt:lpstr>Accept</vt:lpstr>
      <vt:lpstr>例题6：算24</vt:lpstr>
      <vt:lpstr>算24</vt:lpstr>
      <vt:lpstr>5 * (5 – 1 / 5) = 24 1 1 4 2 无解</vt:lpstr>
      <vt:lpstr>题解：枚举分析、递归实现</vt:lpstr>
      <vt:lpstr>调用count24函数输出题目要求</vt:lpstr>
      <vt:lpstr>参考代码</vt:lpstr>
      <vt:lpstr>Accept</vt:lpstr>
      <vt:lpstr>第四周     C++例题试炼一 截止日期: 2021年4月17日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2019-09-20T06:50:13Z</dcterms:created>
  <dcterms:modified xsi:type="dcterms:W3CDTF">2021-03-23T01:39:53Z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TC030395169991</vt:lpwstr>
  </property>
</Properties>
</file>